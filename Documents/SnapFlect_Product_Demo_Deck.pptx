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E8C82"/>
            </a:solidFill>
            <a:ln w="31750" cap="flat">
              <a:solidFill>
                <a:srgbClr val="0E8C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C82"/>
              </a:solidFill>
              <a:ln w="9525" cap="flat">
                <a:solidFill>
                  <a:srgbClr val="0E8C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71</c:v>
                </c:pt>
                <c:pt idx="2">
                  <c:v>74</c:v>
                </c:pt>
                <c:pt idx="3">
                  <c:v>70</c:v>
                </c:pt>
                <c:pt idx="4">
                  <c:v>78</c:v>
                </c:pt>
                <c:pt idx="5">
                  <c:v>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'Whether your prospect is a direct enterprise buyer or an assessment/training partner reselling to their own clients, it's the same underlying platform — no forked codebase, no special build.' Use this slide to ask the prospect directly which model fits them before the live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transition in the assessment lifecycle (next section) checks both the role AND the organization_id match — cross-tenant access is denied at the policy layer, not just hidden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'Let's stop talking about the architecture and go look at the actual product. I'll walk the same path a real assessment takes — from an admin building it, to a candidate taking it, to a reviewer scoring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the login page and point out the tenant subdomain in the URL bar. Log in as a Client Admin first. Mention: 'Notice I never typed which organization I belong to — that's already resolved by how I got here, and everything downstream is scoped to it automatically.' If asked about SSO/SAML, note it as a configuration question for the technical scoping call, not a live-demo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Land here right after login. Call out that KPIs, the completions chart, and the activity feed are already scoped to this Organization only — a Virtusa partner admin would see the same layout aggregated across their Business Units, while a scoped Business Unit manager sees only their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slide to slow down on for compliance-minded prospects: emphasize the immutability of Published/Archived states and that publish triggers full blueprint validation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Build one section live if time allows — add a question type, set negative marking, tag a competency. Emphasize the Submit Review button only appears because the assessment is currently in DRAFT state (tie back to the lifecycle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Filter the question bank by competency to show reuse across multiple assessments. Plant the seed for the AI roadmap section by pointing at the auto-tag confidence note without diving into it yet — 'we'll come back to that in Part Three.'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Switch browser sessions (or use an incognito window) to show the candidate view. Highlight the timer, auto-save (answer already marked before moving on), and the question navigator showing answered/current/unanswered state. Mention resume-after-disconnect as a resilience point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same screen your Support team uses for the 'candidate's screen froze' scenario — look up the session, verify telemetry, resolve without ever leaving this view. Mention this works identically for a Super Admin looking across Hexaware AND Virtusa's sub-clients.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one essay response and walk through scoring it against the rubric criteria. This is the exact screen where, in Part Three, an AI-suggested score and justification would appear — today it's 100% human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Click into one candidate result. Point out that API Design is flagged red — below the pass threshold for that competency even though overall score passed. This per-competency breakdown is what feeds both hiring decisions and (later) any learning-path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a native, editable chart — if the prospect's team wants to slice by department or date range afterwards, that filter lives right on this screen. The heatmap answers 'where are our candidates weakest' at a glance, which is the natural lead-in to the Self-Healing Assessments AI idea in Part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Export one report live to show the download. Then open the public verification link in a fresh tab to prove it works with zero authentication — this is often the single most convincing moment for HR/talent-acquisition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screen a Virtusa-style partner admin lives in — show how Business Units roll up into one subscription and one invoice, while each Business Unit's Assessment Manager never sees billing at all (RBAC in action again).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'Everything you've just seen is shipping today. What I want to show you next is the roadmap — where AI plugs into these exact same screens to save your Assessment Managers and Reviewers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we're not doing AI proctoring or an in-exam AI chatbot: 'Deliberate choice — anything candidate-facing raises fairness and privacy questions we'd rather not introduce until the internal-facing wins are proven out.'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Slide 12/13 in the live walkthrough: 'Remember the Blueprint Designer and Question Bank screens I showed you? This is the same screen — the AI just pre-fills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reviewer-override tracking guardrail if a technical buyer asks about liability: we track how often reviewers agree with the AI suggestion vs override it, so 'human in the loop' stays real rather than becoming rubber-stamping.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Analytics Dashboard walkthrough (Slide 18) — the heatmap you saw is exactly what feeds Self-Healing Assessments.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how HackerRank, HireVue, and Mercer Mettl price AI features in this space — buyers in this category will recognize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which deployment model (B2B direct or B2B2B partner) fits them, and calendar the technical scoping call before ending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B2B / B2B2B Assessment Platform  —  with an AI Enrichment Roadmap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Prospects &amp; Customers  |  Live Product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7053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SnapFlect is for, and the problem we solve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5740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7614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B2B and B2B2B (partner) models both run on one platform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44271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19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through authoring, delivery, scoring, results &amp; certificates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87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Enrichment Vision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4498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accelerates your admin &amp; reviewer workflows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18007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56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Next Steps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5367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 and how to get started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58952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minutes, live in your browser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reflect the actual app modules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any time — this is a conversation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8638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flag where your team can configure or extend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SNAPFLECT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programs outgrow spreadsheets and static tools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570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tenant setup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84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instances or manual data walls per client and per partner sub-client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8970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06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access control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9169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guarantee an Assessment Manager only sees their own Business Unit's candidates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62239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38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authoring &amp; grading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built by hand; essays and code queued for slow manual review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5508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71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analytics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782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counts, but little insight into competency gaps or question quality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built for enterprises and the partners who serve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is a multi-tenant SaaS assessment portal covering the full lifecycle: authoring, publication, candidate delivery, scoring, results and certification — with strict tenant isolation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87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25694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hierarchy: Platform → Org → Business Unit → Department →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34107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modules: Governance, Assessment, Delivery, Results, Analytics, Reporting, Certificates, Billing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0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publication lifecycle: Draft → Review → Approved → Published → Archived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11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+ B2B2B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50932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Direct-enterprise and partner/reseller models on the same codebase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7264D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(SnapFlect)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2093976"/>
            <a:ext cx="3913632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10144" y="20939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(Tenants)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2770632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2770632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54112" y="3447288"/>
            <a:ext cx="4425696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4" name="Text 22"/>
          <p:cNvSpPr/>
          <p:nvPr/>
        </p:nvSpPr>
        <p:spPr>
          <a:xfrm>
            <a:off x="7754112" y="34472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/ Locations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26096" y="4123944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26096" y="412394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hierarchical tenancy model — strict isolation, flexible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SnapFlect instance serves every customer. Organizations are the primary billing and data-isolation boundary; Business Units let a partner represent each of their own downstream clients underneath a single tenant.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58568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91" y="2315627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03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496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— Super Admins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91693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1" name="Shape 8"/>
          <p:cNvSpPr/>
          <p:nvPr/>
        </p:nvSpPr>
        <p:spPr>
          <a:xfrm>
            <a:off x="1627632" y="3026664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91" y="3083723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971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(Tenant)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19456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Hexaware, or a partner agency like Virtusa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377440" y="368503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6" name="Shape 12"/>
          <p:cNvSpPr/>
          <p:nvPr/>
        </p:nvSpPr>
        <p:spPr>
          <a:xfrm>
            <a:off x="2542032" y="3794760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91" y="385181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08960" y="3739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108960" y="4032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partner's downstream client, or an internal division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91840" y="44531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1" name="Shape 16"/>
          <p:cNvSpPr/>
          <p:nvPr/>
        </p:nvSpPr>
        <p:spPr>
          <a:xfrm>
            <a:off x="3456432" y="4562856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91" y="4619915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23360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/ Location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02336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org segments, e.g. Engineering — Chennai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5221224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370832" y="5330952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891" y="5388011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37760" y="5276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937760" y="5568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access, e.g. a Manager restricted to one Business Unit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on SnapFlect — same platform, same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Direct 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Hexaware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provisions a dedicated Organization tenant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self-manage users, departments &amp; locations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isolation — assessments, candidates, invoices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41" y="17653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B2B2B — Partner / Reseller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Virtusa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Organization tenant hosts many Business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936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maps to one of the partner's clients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leadership sees aggregated analytics &amp; billing; a scoped Manager sees only their assigned client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governed by role, and scoped to a tenant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within their Organization: users, roles, billing,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another Organization's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publish, archive assessments within their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outside their Business Unit (if scoped)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Creator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draft questions &amp;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directly — requires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assessments; manually grade essay &amp; file responses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an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assigned assessments, view own results &amp; certificates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other candidates' data or question banks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 (SnapFlect)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visibility &amp; support tooling across all 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(platform-level oversight 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Authoring → Publication → Delivery → Scoring → Results → Certificates →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Multi-Tenant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resolves to exactly one Organization — the tenant boundary starts at the login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137160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7264D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2011680"/>
            <a:ext cx="4572000" cy="137160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hexaware.snapflect.io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0" y="298094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EF3FB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375818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EF3FB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438912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0A9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4389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4919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     Need an account? Contact your Admin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041" y="2157801"/>
            <a:ext cx="311262" cy="3112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075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Tenant-aware routing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88720" y="23500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subdomain / org context on login resolves the correct Organization before any query touches the database.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" y="315468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41" y="3209361"/>
            <a:ext cx="311262" cy="3112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872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resolves on sign-in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88720" y="34015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login screen serves Client Admins, Assessment Managers, Reviewers, and Candidates — each lands on a role-specific home.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4360" y="420624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" y="4260921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4178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 enforce it end to end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88720" y="44531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auth/tenant/role guards plus Laravel policies both check identity — UI and API agree on who can see what.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801368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2316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316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Assessments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0916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This Month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8660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Completion Rate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46404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55548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5548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Issued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331720" y="2852928"/>
            <a:ext cx="5896051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2962656"/>
            <a:ext cx="5230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Completions — Last 8 Weeks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4999939"/>
            <a:ext cx="625450" cy="1126541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38" name="Shape 36"/>
          <p:cNvSpPr/>
          <p:nvPr/>
        </p:nvSpPr>
        <p:spPr>
          <a:xfrm>
            <a:off x="3213202" y="4577486"/>
            <a:ext cx="625450" cy="1548994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39" name="Shape 37"/>
          <p:cNvSpPr/>
          <p:nvPr/>
        </p:nvSpPr>
        <p:spPr>
          <a:xfrm>
            <a:off x="3911803" y="4718304"/>
            <a:ext cx="625450" cy="1408176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0405" y="4155034"/>
            <a:ext cx="625450" cy="1971446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309006" y="4436669"/>
            <a:ext cx="625450" cy="1689811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2" name="Shape 40"/>
          <p:cNvSpPr/>
          <p:nvPr/>
        </p:nvSpPr>
        <p:spPr>
          <a:xfrm>
            <a:off x="6007608" y="3873398"/>
            <a:ext cx="625450" cy="2253082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3" name="Shape 41"/>
          <p:cNvSpPr/>
          <p:nvPr/>
        </p:nvSpPr>
        <p:spPr>
          <a:xfrm>
            <a:off x="6706210" y="4014216"/>
            <a:ext cx="625450" cy="2112264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4" name="Shape 42"/>
          <p:cNvSpPr/>
          <p:nvPr/>
        </p:nvSpPr>
        <p:spPr>
          <a:xfrm>
            <a:off x="7404811" y="3591763"/>
            <a:ext cx="625450" cy="2534717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5" name="Shape 43"/>
          <p:cNvSpPr/>
          <p:nvPr/>
        </p:nvSpPr>
        <p:spPr>
          <a:xfrm>
            <a:off x="8319211" y="2852928"/>
            <a:ext cx="3065069" cy="3364992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456371" y="2962656"/>
            <a:ext cx="2790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56371" y="326440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Fundamentals — Published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456371" y="353872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Aptitude — In Review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56371" y="381304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Basics — 42 submissions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56371" y="408736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Advanced — Archived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 Lifecycle — a strict, auditable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freely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5496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25496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82312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2352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02352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59168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9208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(live)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79208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36024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25" name="Text 23"/>
          <p:cNvSpPr/>
          <p:nvPr/>
        </p:nvSpPr>
        <p:spPr>
          <a:xfrm>
            <a:off x="9656064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56064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606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77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Archived assessments cannot be edited or deleted — protects the integrity of anything a candidate has already taken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700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auto-validates the full blueprint before it can go live — no incomplete assessment reaches a candidate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0840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checked against both role AND organization_id — no cross-tenant approvals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Designer — Assessment Authoring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assessment / blueprint-designer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459736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3057754" cy="432511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2783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Sections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350008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350008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Aptitude (10 Qs)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825496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825496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Technical MCQ (15 Qs)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300984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3300984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Coding Challenge (2 Qs)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76472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776472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Essay Response (1 Q)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3794" y="1892808"/>
            <a:ext cx="5811926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46674" y="2011680"/>
            <a:ext cx="5446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Configuration — Section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46674" y="2395728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Type: single_choice, multiple_choice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46674" y="2779776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Marking: -0.25 per wrong answer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46674" y="3163824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Mapping: React · System Design · API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46674" y="3547872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Randomization: Enabled (per-candidate shuffle)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46674" y="54406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0A93A"/>
          </a:solidFill>
          <a:ln/>
        </p:spPr>
      </p:sp>
      <p:sp>
        <p:nvSpPr>
          <p:cNvPr id="40" name="Text 38"/>
          <p:cNvSpPr/>
          <p:nvPr/>
        </p:nvSpPr>
        <p:spPr>
          <a:xfrm>
            <a:off x="5846674" y="5440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&amp; Competency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assessment / question-bank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459736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9052560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29968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64808" y="202996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54696" y="202996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39528" y="202996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68880" y="23774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binary search?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64808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single_choice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54696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939528" y="23774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7614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8346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React's virtual DOM reconciliation.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64808" y="28346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54696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939528" y="28346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32186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2918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valid HTTP idempotent methods.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64808" y="32918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multiple_choice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54696" y="32918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939528" y="32918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68880" y="36758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7490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rate limiter (coding).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64808" y="37490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54696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939528" y="37490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68880" y="41330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5943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Auto-Tag suggests “Algorithms” and “System Design” with 92% confidence — covered in Part Three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Delivery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 — Section 2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66960" y="1463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0A93A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: 42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07008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159105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75104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6" name="Text 14"/>
          <p:cNvSpPr/>
          <p:nvPr/>
        </p:nvSpPr>
        <p:spPr>
          <a:xfrm>
            <a:off x="197510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59152" y="2057400"/>
            <a:ext cx="292608" cy="292608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235915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27248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11296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95344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6" name="Text 24"/>
          <p:cNvSpPr/>
          <p:nvPr/>
        </p:nvSpPr>
        <p:spPr>
          <a:xfrm>
            <a:off x="389534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79392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939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47488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2960" y="2560320"/>
            <a:ext cx="10515600" cy="3154680"/>
          </a:xfrm>
          <a:prstGeom prst="roundRect">
            <a:avLst>
              <a:gd name="adj" fmla="val 2319"/>
            </a:avLst>
          </a:prstGeom>
          <a:solidFill>
            <a:srgbClr val="EEF3FB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Which hook should you use to memoize an expensive computation between renders?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51560" y="3429000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51560" y="3904488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3904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51560" y="4379976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3799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51560" y="4855464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48554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784080" y="58521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0E8C82"/>
          </a:solidFill>
          <a:ln/>
        </p:spPr>
      </p:sp>
      <p:sp>
        <p:nvSpPr>
          <p:cNvPr id="44" name="Text 42"/>
          <p:cNvSpPr/>
          <p:nvPr/>
        </p:nvSpPr>
        <p:spPr>
          <a:xfrm>
            <a:off x="978408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Next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Monitor — Live Delivery Oversight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delivery / session-monitor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788920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9052560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2996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01184" y="202996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33488" y="202996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97112" y="2029968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26396" y="2029968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68880" y="23774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Kulkarni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01184" y="23774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33488" y="2377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897112" y="23774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072116" y="24323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4" name="Text 32"/>
          <p:cNvSpPr/>
          <p:nvPr/>
        </p:nvSpPr>
        <p:spPr>
          <a:xfrm>
            <a:off x="10072116" y="24323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68880" y="27614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8346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01184" y="28346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Advanced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33488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97112" y="28346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072116" y="28895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1FB6A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72116" y="28895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68880" y="32186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2918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Shankar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01184" y="32918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Aptitude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33488" y="3291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897112" y="32918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072116" y="33467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F0A93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72116" y="33467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468880" y="36758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7490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Sheikh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01184" y="37490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Fundamentals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33488" y="37490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897112" y="37490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45:00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072116" y="38039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9AA6BF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2116" y="38039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68880" y="41330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Dashboard &amp; Manual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results / manual-review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118104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677363" cy="432511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2403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Grading Queue (7)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350008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0E8C82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350008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K. — Essay Q4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825496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825496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N. — Code Q2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300984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3300984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S. — Essay Q1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76472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776472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S. — Code Q1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83403" y="1892808"/>
            <a:ext cx="6192317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66283" y="2011680"/>
            <a:ext cx="5826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K. — Essay Q4: “Explain reconciliation in React”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66283" y="2322576"/>
            <a:ext cx="5826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response: “React compares the new virtual DOM tree with the previous one, diffing nodes...”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66283" y="294436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241280" y="29260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0" y="2926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66283" y="331012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Explanation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41280" y="3291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41" name="Text 39"/>
          <p:cNvSpPr/>
          <p:nvPr/>
        </p:nvSpPr>
        <p:spPr>
          <a:xfrm>
            <a:off x="10241280" y="3291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66283" y="367588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Correct Terminology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241280" y="3657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44" name="Text 42"/>
          <p:cNvSpPr/>
          <p:nvPr/>
        </p:nvSpPr>
        <p:spPr>
          <a:xfrm>
            <a:off x="10241280" y="3657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66283" y="56235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F0A93A"/>
          </a:solidFill>
          <a:ln/>
        </p:spPr>
      </p:sp>
      <p:sp>
        <p:nvSpPr>
          <p:cNvPr id="46" name="Text 44"/>
          <p:cNvSpPr/>
          <p:nvPr/>
        </p:nvSpPr>
        <p:spPr>
          <a:xfrm>
            <a:off x="5466283" y="5623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 &amp; Candidate Score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results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118104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867558" cy="4325112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029968"/>
            <a:ext cx="25017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Kulkarni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2286000"/>
            <a:ext cx="25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2624328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2514600" y="3355848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FB6A8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3355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73598" y="1892808"/>
            <a:ext cx="6002122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656478" y="2011680"/>
            <a:ext cx="5636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Breakdown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56478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93838" y="2404872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3" name="Shape 31"/>
          <p:cNvSpPr/>
          <p:nvPr/>
        </p:nvSpPr>
        <p:spPr>
          <a:xfrm>
            <a:off x="7393838" y="2404872"/>
            <a:ext cx="3344509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4" name="Text 32"/>
          <p:cNvSpPr/>
          <p:nvPr/>
        </p:nvSpPr>
        <p:spPr>
          <a:xfrm>
            <a:off x="5656478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93838" y="2807208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393838" y="2807208"/>
            <a:ext cx="2303995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7" name="Text 35"/>
          <p:cNvSpPr/>
          <p:nvPr/>
        </p:nvSpPr>
        <p:spPr>
          <a:xfrm>
            <a:off x="5656478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93838" y="3209544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3838" y="3209544"/>
            <a:ext cx="1672255" cy="182880"/>
          </a:xfrm>
          <a:prstGeom prst="roundRect">
            <a:avLst>
              <a:gd name="adj" fmla="val 50000"/>
            </a:avLst>
          </a:prstGeom>
          <a:solidFill>
            <a:srgbClr val="C0483C"/>
          </a:solidFill>
          <a:ln/>
        </p:spPr>
      </p:sp>
      <p:sp>
        <p:nvSpPr>
          <p:cNvPr id="40" name="Text 38"/>
          <p:cNvSpPr/>
          <p:nvPr/>
        </p:nvSpPr>
        <p:spPr>
          <a:xfrm>
            <a:off x="5656478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93838" y="3611880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7393838" y="3611880"/>
            <a:ext cx="2898575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43" name="Text 4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 — KPIs, Heatmaps &amp;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analytics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447288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5325466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1984248"/>
            <a:ext cx="4959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 — Last 6 Cohorts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514600" y="2258568"/>
          <a:ext cx="4959706" cy="3822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7931506" y="1892808"/>
            <a:ext cx="3544214" cy="4325112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8068666" y="1984248"/>
            <a:ext cx="3269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Heatmap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14386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29" name="Text 26"/>
          <p:cNvSpPr/>
          <p:nvPr/>
        </p:nvSpPr>
        <p:spPr>
          <a:xfrm>
            <a:off x="8114386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173870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31" name="Text 28"/>
          <p:cNvSpPr/>
          <p:nvPr/>
        </p:nvSpPr>
        <p:spPr>
          <a:xfrm>
            <a:off x="9173870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233355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33" name="Text 30"/>
          <p:cNvSpPr/>
          <p:nvPr/>
        </p:nvSpPr>
        <p:spPr>
          <a:xfrm>
            <a:off x="10233355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114386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35" name="Text 32"/>
          <p:cNvSpPr/>
          <p:nvPr/>
        </p:nvSpPr>
        <p:spPr>
          <a:xfrm>
            <a:off x="8114386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73870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37" name="Text 34"/>
          <p:cNvSpPr/>
          <p:nvPr/>
        </p:nvSpPr>
        <p:spPr>
          <a:xfrm>
            <a:off x="9173870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0233355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39" name="Text 36"/>
          <p:cNvSpPr/>
          <p:nvPr/>
        </p:nvSpPr>
        <p:spPr>
          <a:xfrm>
            <a:off x="10233355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114386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41" name="Text 38"/>
          <p:cNvSpPr/>
          <p:nvPr/>
        </p:nvSpPr>
        <p:spPr>
          <a:xfrm>
            <a:off x="8114386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173870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43" name="Text 40"/>
          <p:cNvSpPr/>
          <p:nvPr/>
        </p:nvSpPr>
        <p:spPr>
          <a:xfrm>
            <a:off x="9173870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233355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45" name="Text 42"/>
          <p:cNvSpPr/>
          <p:nvPr/>
        </p:nvSpPr>
        <p:spPr>
          <a:xfrm>
            <a:off x="10233355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Certificates &amp; Public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Reports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679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00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Report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33009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922776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227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Report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17264D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645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2148840"/>
            <a:ext cx="4892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FB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423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Kulkarni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788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3063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 — Score: 82%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3520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SF-2026-88213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Portal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45720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572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Certificate ID to verify…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0" y="45720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0A9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0" y="4572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5166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employer or third party can independently confirm a certificate is genuine — no login required.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Billing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governance / billing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2130552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3628339" cy="43251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3354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68880" y="235000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Virtusa (Organization)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71576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08152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44728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381304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48   Roles: 6   Depts: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4379" y="1892808"/>
            <a:ext cx="5241341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7259" y="2011680"/>
            <a:ext cx="4875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Usage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17259" y="235000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B6A8"/>
          </a:solidFill>
          <a:ln/>
        </p:spPr>
      </p:sp>
      <p:sp>
        <p:nvSpPr>
          <p:cNvPr id="33" name="Text 31"/>
          <p:cNvSpPr/>
          <p:nvPr/>
        </p:nvSpPr>
        <p:spPr>
          <a:xfrm>
            <a:off x="6417259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17259" y="289864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Candidates: 5,000 / mo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17259" y="326440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This Cycle: 3,214 (64%)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7259" y="363016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Invoice: Aug 1, 2026 — $12,400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17259" y="399592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Method: Corporate card •••1187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Enrichment Vision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removes admin and reviewer busywork — without ever touching the candidate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assists your team — never a candidate-facing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81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reviewer-facing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targets Assessment Managers, Reviewers, and Admins — no AI chatbot or AI-generated report ever reaches a candidate.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5313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9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always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86207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 score, a tag, or a draft — a person confirms it before it counts.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57530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640684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57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 by design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AI Gateway enforces that no prompt ever mixes data across Organizations or Business Units.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544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Gemini, OpenAI, or Bring-Your-Own-Key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48371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providers, or route candidate data through your own enterprise LLM contract.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160020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17264D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(Internal)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452360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3" name="Text 17"/>
          <p:cNvSpPr/>
          <p:nvPr/>
        </p:nvSpPr>
        <p:spPr>
          <a:xfrm>
            <a:off x="7452360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8439912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5" name="Text 19"/>
          <p:cNvSpPr/>
          <p:nvPr/>
        </p:nvSpPr>
        <p:spPr>
          <a:xfrm>
            <a:off x="8439912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9427464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7" name="Text 21"/>
          <p:cNvSpPr/>
          <p:nvPr/>
        </p:nvSpPr>
        <p:spPr>
          <a:xfrm>
            <a:off x="9427464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10415016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9" name="Text 23"/>
          <p:cNvSpPr/>
          <p:nvPr/>
        </p:nvSpPr>
        <p:spPr>
          <a:xfrm>
            <a:off x="10415016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768096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E8C82"/>
          </a:solidFill>
          <a:ln/>
        </p:spPr>
      </p:sp>
      <p:sp>
        <p:nvSpPr>
          <p:cNvPr id="31" name="Text 25"/>
          <p:cNvSpPr/>
          <p:nvPr/>
        </p:nvSpPr>
        <p:spPr>
          <a:xfrm>
            <a:off x="76809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Service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80960" y="3383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3" name="Text 27"/>
          <p:cNvSpPr/>
          <p:nvPr/>
        </p:nvSpPr>
        <p:spPr>
          <a:xfrm>
            <a:off x="78181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Scope Enforcer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680960" y="3822192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5" name="Text 29"/>
          <p:cNvSpPr/>
          <p:nvPr/>
        </p:nvSpPr>
        <p:spPr>
          <a:xfrm>
            <a:off x="78181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&amp; Cost Meter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680960" y="4261104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7" name="Text 31"/>
          <p:cNvSpPr/>
          <p:nvPr/>
        </p:nvSpPr>
        <p:spPr>
          <a:xfrm>
            <a:off x="781812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680960" y="470001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9" name="Text 33"/>
          <p:cNvSpPr/>
          <p:nvPr/>
        </p:nvSpPr>
        <p:spPr>
          <a:xfrm>
            <a:off x="781812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Failover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Authoring — minutes instead of hours per blueprint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Question Generation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job description or HR manual — AI drafts a full blueprint of MCQ, multi-select and essay questions mapped to competencies.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Auto-Tagging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Manually-written questions get suggested competency tags with a confidence score — low-confidence suggestions route for manual confirmation.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&amp; Penalty Prediction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negative marking and weighting based on semantic complexity — always advisory, author confirms before it applies.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Balance Checker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publication, AI flags coverage gaps — e.g. zero questions mapped to a stated competency — inside the existing publish workflow.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Fairer Evaluation — AI drafts, your reviewers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Assist Mode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pre-fills a draft rubric score per criterion right inside the Manual Review screen — reviewers edit instead of starting blank.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Essay Evaluation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open-text answers against your rubric (grammar, technical accuracy, tone) and shows its justification alongside the score.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Evaluation Agent (via MCP)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code runs in a secure sandbox against hidden test cases; an AI agent reviews quality, complexity and security — beyond pass/fail.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&amp; AI-Content Signal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copy-pasted or AI-generated responses as a reviewer signal, never an automatic fail — protects against false positives.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Analytics — ask a question, get an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Chat-with-Data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ask in plain English — “Show candidates who scored above 80% in React but failed API Design” — answered from a tenant-scoped, read-only query engine.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Assessments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telemetry to flag flawed questions — e.g. 95% of top performers answer incorrectly — and routes them to a human review queue.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Comparison Narratives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summary paragraph on the analytics dashboard turns charts into something a non-technical admin can act on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Forecasting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next-cycle AI spend per tenant from current usage trends — no surprise Pay-As-You-Go invoices.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commercial models — for direct clients and partners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Subscription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number of AI-processed candidates and tokens bundled into Premium and Enterprise tiers.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predictable monthly volume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78808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8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Pay-As-You-Go (Credits)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07408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(RAG, scoring) and session-minutes metered separately, billed at cycle end as credits.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07408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variable or seasonal hiring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37576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56" y="189418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7576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Key (BYOK)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037576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supply their own OpenAI / Gemini key — token cost passes to their cloud bill; we charge a flat platform fee.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37576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24" name="Text 19"/>
          <p:cNvSpPr/>
          <p:nvPr/>
        </p:nvSpPr>
        <p:spPr>
          <a:xfrm>
            <a:off x="8129016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enterprises with existing LLM contracts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SnapFlect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business models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B2B2B run on the same codebase — no forked deployment for partners.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80" y="20313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enforced at the policy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hidden in the UI — cross-tenant access is denied server-side, every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1344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Governed, auditable lifecycle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machine protects published assessments from accidental change.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41344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roadmap with guardrails built in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Admin/reviewer-facing only, human-in-the-loop, tenant-scoped by design — not bolted on after the fact.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560320" cy="256032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scope your rollout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9397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862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scoping call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154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SSO needs, tenant structure, and which AI features matter most to you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7170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6393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pilot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931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runs a real assessment cycle in a dedicated Organization tenant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4942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4165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4709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with your chosen billing model — tiered, PAYG, or BYOK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anytime.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SnapFlect Product Demo Deck</dc:title>
  <dc:subject>PptxGenJS Presentation</dc:subject>
  <dc:creator>SnapFlect</dc:creator>
  <cp:lastModifiedBy>SnapFlect</cp:lastModifiedBy>
  <cp:revision>1</cp:revision>
  <dcterms:created xsi:type="dcterms:W3CDTF">2026-07-09T06:34:50Z</dcterms:created>
  <dcterms:modified xsi:type="dcterms:W3CDTF">2026-07-09T06:34:50Z</dcterms:modified>
</cp:coreProperties>
</file>