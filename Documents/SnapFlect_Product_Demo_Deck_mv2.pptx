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ln w="31750" cap="flat">
              <a:solidFill>
                <a:srgbClr val="0E8C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8C82"/>
              </a:solidFill>
              <a:ln w="9525" cap="flat">
                <a:solidFill>
                  <a:srgbClr val="0E8C8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</c:v>
                </c:pt>
                <c:pt idx="1">
                  <c:v>71</c:v>
                </c:pt>
                <c:pt idx="2">
                  <c:v>74</c:v>
                </c:pt>
                <c:pt idx="3">
                  <c:v>70</c:v>
                </c:pt>
                <c:pt idx="4">
                  <c:v>78</c:v>
                </c:pt>
                <c:pt idx="5">
                  <c:v>81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175-40DD-ACC3-F0EF8987A6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823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'Whether your prospect is a direct enterprise buyer or an assessment/training partner reselling to their own clients, it's the same underlying platform — no forked codebase, no special build.' Use this slide to ask the prospect directly which model fits them before the live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transition in the assessment lifecycle (next section) checks both the role AND the organization_id match — cross-tenant access is denied at the policy layer, not just hidden in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line: 'Let's stop talking about the architecture and go look at the actual product. I'll walk the same path a real assessment takes — from an admin building it, to a candidate taking it, to a reviewer scoring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Open the login page and point out the tenant subdomain in the URL bar. Log in as a Client Admin first. Mention: 'Notice I never typed which organization I belong to — that's already resolved by how I got here, and everything downstream is scoped to it automatically.' If asked about SSO/SAML, note it as a configuration question for the technical scoping call, not a live-demo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Land here right after login. Call out that KPIs, the completions chart, and the activity feed are already scoped to this Organization only — a Virtusa partner admin would see the same layout aggregated across their Business Units, while a scoped Business Unit manager sees only their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slide to slow down on for compliance-minded prospects: emphasize the immutability of Published/Archived states and that publish triggers full blueprint validation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Build one section live if time allows — add a question type, set negative marking, tag a competency. Emphasize the Submit Review button only appears because the assessment is currently in DRAFT state (tie back to the lifecycle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Filter the question bank by competency to show reuse across multiple assessments. Plant the seed for the AI roadmap section by pointing at the auto-tag confidence note without diving into it yet — 'we'll come back to that in Part Three.'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Switch browser sessions (or use an incognito window) to show the candidate view. Highlight the timer, auto-save (answer already marked before moving on), and the question navigator showing answered/current/unanswered state. Mention resume-after-disconnect as a resilience point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This is the same screen your Support team uses for the 'candidate's screen froze' scenario — look up the session, verify telemetry, resolve without ever leaving this view. Mention this works identically for a Super Admin looking across Hexaware AND Virtusa's sub-clients.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Open one essay response and walk through scoring it against the rubric criteria. This is the exact screen where, in Part Three, an AI-suggested score and justification would appear — today it's 100% human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Click into one candidate result. Point out that API Design is flagged red — below the pass threshold for that competency even though overall score passed. This per-competency breakdown is what feeds both hiring decisions and (later) any learning-path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This is a native, editable chart — if the prospect's team wants to slice by department or date range afterwards, that filter lives right on this screen. The heatmap answers 'where are our candidates weakest' at a glance, which is the natural lead-in to the Self-Healing Assessments AI idea in Part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Export one report live to show the download. Then open the public verification link in a fresh tab to prove it works with zero authentication — this is often the single most convincing moment for HR/talent-acquisition buyers.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This is the screen a Virtusa-style partner admin lives in — show how Business Units roll up into one subscription and one invoice, while each Business Unit's Assessment Manager never sees billing at all (RBAC in action again).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line: 'Everything you've just seen is shipping today. What I want to show you next is the roadmap — where AI plugs into these exact same screens to save your Assessment Managers and Reviewers time.'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we're not doing AI proctoring or an in-exam AI chatbot: 'Deliberate choice — anything candidate-facing raises fairness and privacy questions we'd rather not introduce until the internal-facing wins are proven out.'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Slide 12/13 in the live walkthrough: 'Remember the Blueprint Designer and Question Bank screens I showed you? This is the same screen — the AI just pre-fills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the reviewer-override tracking guardrail if a technical buyer asks about liability: we track how often reviewers agree with the AI suggestion vs override it, so 'human in the loop' stays real rather than becoming rubber-stamping.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the Analytics Dashboard walkthrough (Slide 18) — the heatmap you saw is exactly what feeds Self-Healing Assessments.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directly to how HackerRank, HireVue, and Mercer Mettl price AI features in this space — buyers in this category will recognize the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confirming which deployment model (B2B direct or B2B2B partner) fits them, and calendar the technical scoping call before ending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3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2926080" cy="292608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Portal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F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Demo Deck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B2B / B2B2B Assessment Platform  —  with an AI Enrichment Roadmap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6035040"/>
            <a:ext cx="2926080" cy="0"/>
          </a:xfrm>
          <a:prstGeom prst="line">
            <a:avLst/>
          </a:prstGeom>
          <a:noFill/>
          <a:ln w="19050">
            <a:solidFill>
              <a:srgbClr val="0E8C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Prospects &amp; Customers  |  Live Product 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170535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81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Overview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8928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SnapFlect is for, and the problem we solve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257403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4505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Architecture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25880" y="27614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B2B and B2B2B (partner) models both run on one platform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344271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3192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Product Walkthrough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25880" y="36301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through authoring, delivery, scoring, results &amp; certificates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431139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187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Enrichment Vision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25880" y="44988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generative AI accelerates your admin &amp; reviewer workflows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" y="518007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056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&amp; Next Steps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325880" y="53675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models and how to get started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589520" y="160020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FORMAT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minutes, live in your browser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86384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shown reflect the actual app modules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86384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any time — this is a conversation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86384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flag where your team can configure or extend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SNAPFLECT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programs outgrow spreadsheets and static tools fast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75702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733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tenant setup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19842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instances or manual data walls per client and per partner sub-client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624328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268970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060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Loose access control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291693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guarantee an Assessment Manager only sees their own Business Unit's candidates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557016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62239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387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manual authoring &amp; grading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3849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built by hand; essays and code queued for slow manual review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489704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55508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7141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Shallow analytics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71600" y="47823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counts, but little insight into competency gaps or question quality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built for enterprises and the partners who serve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is a multi-tenant SaaS assessment portal covering the full lifecycle: authoring, publication, candidate delivery, scoring, results and certification — with strict tenant isolation from day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877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5-Level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97480" y="2569464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hierarchy: Platform → Org → Business Unit → Department → Location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355848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341071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modules: Governance, Assessment, Delivery, Results, Analytics, Reporting, Certificates, Billing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197096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702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State-Machine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425196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publication lifecycle: Draft → Review → Approved → Published → Archived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038344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114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+ B2B2B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509320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Direct-enterprise and partner/reseller models on the same codebase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17264D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417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(SnapFlect)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10144" y="2093976"/>
            <a:ext cx="3913632" cy="566928"/>
          </a:xfrm>
          <a:prstGeom prst="roundRect">
            <a:avLst>
              <a:gd name="adj" fmla="val 12903"/>
            </a:avLst>
          </a:prstGeom>
          <a:solidFill>
            <a:srgbClr val="0E8C82"/>
          </a:solidFill>
          <a:ln/>
        </p:spPr>
      </p:sp>
      <p:sp>
        <p:nvSpPr>
          <p:cNvPr id="20" name="Text 18"/>
          <p:cNvSpPr/>
          <p:nvPr/>
        </p:nvSpPr>
        <p:spPr>
          <a:xfrm>
            <a:off x="8010144" y="2093976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(Tenants)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82128" y="2770632"/>
            <a:ext cx="4169664" cy="566928"/>
          </a:xfrm>
          <a:prstGeom prst="roundRect">
            <a:avLst>
              <a:gd name="adj" fmla="val 12903"/>
            </a:avLst>
          </a:prstGeom>
          <a:solidFill>
            <a:srgbClr val="1FB6A8"/>
          </a:solidFill>
          <a:ln/>
        </p:spPr>
      </p:sp>
      <p:sp>
        <p:nvSpPr>
          <p:cNvPr id="22" name="Text 20"/>
          <p:cNvSpPr/>
          <p:nvPr/>
        </p:nvSpPr>
        <p:spPr>
          <a:xfrm>
            <a:off x="7882128" y="2770632"/>
            <a:ext cx="4169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54112" y="3447288"/>
            <a:ext cx="4425696" cy="566928"/>
          </a:xfrm>
          <a:prstGeom prst="roundRect">
            <a:avLst>
              <a:gd name="adj" fmla="val 12903"/>
            </a:avLst>
          </a:prstGeom>
          <a:solidFill>
            <a:srgbClr val="0E8C82"/>
          </a:solidFill>
          <a:ln/>
        </p:spPr>
      </p:sp>
      <p:sp>
        <p:nvSpPr>
          <p:cNvPr id="24" name="Text 22"/>
          <p:cNvSpPr/>
          <p:nvPr/>
        </p:nvSpPr>
        <p:spPr>
          <a:xfrm>
            <a:off x="7754112" y="3447288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/ Locations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26096" y="4123944"/>
            <a:ext cx="4681728" cy="566928"/>
          </a:xfrm>
          <a:prstGeom prst="roundRect">
            <a:avLst>
              <a:gd name="adj" fmla="val 12903"/>
            </a:avLst>
          </a:prstGeom>
          <a:solidFill>
            <a:srgbClr val="1FB6A8"/>
          </a:solidFill>
          <a:ln/>
        </p:spPr>
      </p:sp>
      <p:sp>
        <p:nvSpPr>
          <p:cNvPr id="26" name="Text 24"/>
          <p:cNvSpPr/>
          <p:nvPr/>
        </p:nvSpPr>
        <p:spPr>
          <a:xfrm>
            <a:off x="7626096" y="4123944"/>
            <a:ext cx="4681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Permissions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hierarchical tenancy model — strict isolation, flexible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SnapFlect instance serves every customer. Organizations are the primary billing and data-isolation boundary; Business Units let a partner represent each of their own downstream clients underneath a single tenant.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258568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1" y="2315627"/>
            <a:ext cx="324795" cy="3247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20370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80160" y="24963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— Super Admins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463040" y="2916936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11" name="Shape 8"/>
          <p:cNvSpPr/>
          <p:nvPr/>
        </p:nvSpPr>
        <p:spPr>
          <a:xfrm>
            <a:off x="1627632" y="3026664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691" y="3083723"/>
            <a:ext cx="324795" cy="3247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94560" y="29718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(Tenant)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194560" y="32644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Hexaware, or a partner agency like Virtusa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377440" y="3685032"/>
            <a:ext cx="68580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16" name="Shape 12"/>
          <p:cNvSpPr/>
          <p:nvPr/>
        </p:nvSpPr>
        <p:spPr>
          <a:xfrm>
            <a:off x="2542032" y="3794760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091" y="3851819"/>
            <a:ext cx="324795" cy="32479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108960" y="37398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Unit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3108960" y="40325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partner's downstream client, or an internal division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91840" y="4453128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21" name="Shape 16"/>
          <p:cNvSpPr/>
          <p:nvPr/>
        </p:nvSpPr>
        <p:spPr>
          <a:xfrm>
            <a:off x="3456432" y="4562856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3491" y="4619915"/>
            <a:ext cx="324795" cy="3247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023360" y="45079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/ Location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02336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org segments, e.g. Engineering — Chennai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06240" y="5221224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26" name="Shape 20"/>
          <p:cNvSpPr/>
          <p:nvPr/>
        </p:nvSpPr>
        <p:spPr>
          <a:xfrm>
            <a:off x="4370832" y="5330952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7891" y="5388011"/>
            <a:ext cx="324795" cy="32479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37760" y="5276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Permissions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937760" y="5568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access, e.g. a Manager restricted to one Business Unit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run on SnapFlect — same platform, same guardrails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23560" cy="4434840"/>
          </a:xfrm>
          <a:prstGeom prst="roundRect">
            <a:avLst>
              <a:gd name="adj" fmla="val 1649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61" y="176534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91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— Direct Client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1984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Hexaware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provisions a dedicated Organization tenant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291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Admins self-manage users, departments &amp; locations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4069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isolation — assessments, candidates, invoices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1417320"/>
            <a:ext cx="5623560" cy="4434840"/>
          </a:xfrm>
          <a:prstGeom prst="roundRect">
            <a:avLst>
              <a:gd name="adj" fmla="val 1649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91640"/>
            <a:ext cx="566928" cy="566928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341" y="1765341"/>
            <a:ext cx="419527" cy="419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1691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B2B2B — Partner / Reseller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995160" y="1984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Virtusa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309360" y="25146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Partner's Organization tenant hosts many Business Units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309360" y="3291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Business Unit maps to one of the partner's clients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309360" y="4069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leadership sees aggregated analytics &amp; billing; a scoped Manager sees only their assigned client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 is governed by role, and scoped to a tenant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within their Organization: users, roles, billing, assessments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another Organization's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publish, archive assessments within their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outside their Business Unit (if scoped)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Creator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draft questions &amp; assessments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directly — requires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Approve/reject assessments; manually grade essay &amp; file responses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an 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assigned assessments, view own results &amp; certificates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other candidates' data or question banks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 (SnapFlect)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visibility &amp; support tooling across all tenants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(platform-level oversight role)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029200" cy="50292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5029200"/>
            <a:ext cx="2377440" cy="237744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Product Walkthrough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Authoring → Publication → Delivery → Scoring → Results → Certificates → Governance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Multi-Tenant Access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resolves to exactly one Organization — the tenant boundary starts at the login screen.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2103120"/>
            <a:ext cx="420624" cy="420624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41" y="2157801"/>
            <a:ext cx="311262" cy="31126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88720" y="20756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Tenant-aware routing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88720" y="235000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subdomain / org context on login resolves the correct Organization before any query touches the database.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4360" y="3154680"/>
            <a:ext cx="420624" cy="420624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41" y="3209361"/>
            <a:ext cx="311262" cy="31126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88720" y="31272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resolves on sign-in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188720" y="340156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login screen serves Client Admins, Assessment Managers, Reviewers, and Candidates — each lands on a role-specific home.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94360" y="4206240"/>
            <a:ext cx="420624" cy="420624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41" y="4260921"/>
            <a:ext cx="311262" cy="31126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88720" y="41788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Guards enforce it end to end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1188720" y="445312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auth/tenant/role guards plus Laravel policies both check identity — UI and API agree on who can see what.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D2AE9AE-AD8E-92A1-0B70-F5F431BB2A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0217" y="1298448"/>
            <a:ext cx="5353325" cy="41150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 Home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dashboard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801368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423160" y="1947672"/>
            <a:ext cx="20574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423160" y="2374697"/>
            <a:ext cx="20574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Assessments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09160" y="1892808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947672"/>
            <a:ext cx="20574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1,284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00600" y="2374697"/>
            <a:ext cx="20574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This Month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086600" y="1892808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178040" y="1947672"/>
            <a:ext cx="20574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78040" y="2374697"/>
            <a:ext cx="20574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Completion Rate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464040" y="1892808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9555480" y="1947672"/>
            <a:ext cx="20574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55480" y="2374697"/>
            <a:ext cx="20574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Issued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331720" y="2852928"/>
            <a:ext cx="5896051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514600" y="2962656"/>
            <a:ext cx="5230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Completions — Last 8 Weeks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14600" y="4999939"/>
            <a:ext cx="625450" cy="1126541"/>
          </a:xfrm>
          <a:prstGeom prst="roundRect">
            <a:avLst>
              <a:gd name="adj" fmla="val 2924"/>
            </a:avLst>
          </a:prstGeom>
          <a:solidFill>
            <a:srgbClr val="0E8C82"/>
          </a:solidFill>
          <a:ln/>
        </p:spPr>
      </p:sp>
      <p:sp>
        <p:nvSpPr>
          <p:cNvPr id="38" name="Shape 36"/>
          <p:cNvSpPr/>
          <p:nvPr/>
        </p:nvSpPr>
        <p:spPr>
          <a:xfrm>
            <a:off x="3213202" y="4577486"/>
            <a:ext cx="625450" cy="1548994"/>
          </a:xfrm>
          <a:prstGeom prst="roundRect">
            <a:avLst>
              <a:gd name="adj" fmla="val 2924"/>
            </a:avLst>
          </a:prstGeom>
          <a:solidFill>
            <a:srgbClr val="1FB6A8"/>
          </a:solidFill>
          <a:ln/>
        </p:spPr>
      </p:sp>
      <p:sp>
        <p:nvSpPr>
          <p:cNvPr id="39" name="Shape 37"/>
          <p:cNvSpPr/>
          <p:nvPr/>
        </p:nvSpPr>
        <p:spPr>
          <a:xfrm>
            <a:off x="3911803" y="4718304"/>
            <a:ext cx="625450" cy="1408176"/>
          </a:xfrm>
          <a:prstGeom prst="roundRect">
            <a:avLst>
              <a:gd name="adj" fmla="val 2924"/>
            </a:avLst>
          </a:prstGeom>
          <a:solidFill>
            <a:srgbClr val="0E8C82"/>
          </a:solidFill>
          <a:ln/>
        </p:spPr>
      </p:sp>
      <p:sp>
        <p:nvSpPr>
          <p:cNvPr id="40" name="Shape 38"/>
          <p:cNvSpPr/>
          <p:nvPr/>
        </p:nvSpPr>
        <p:spPr>
          <a:xfrm>
            <a:off x="4610405" y="4155034"/>
            <a:ext cx="625450" cy="1971446"/>
          </a:xfrm>
          <a:prstGeom prst="roundRect">
            <a:avLst>
              <a:gd name="adj" fmla="val 2924"/>
            </a:avLst>
          </a:prstGeom>
          <a:solidFill>
            <a:srgbClr val="1FB6A8"/>
          </a:solidFill>
          <a:ln/>
        </p:spPr>
      </p:sp>
      <p:sp>
        <p:nvSpPr>
          <p:cNvPr id="41" name="Shape 39"/>
          <p:cNvSpPr/>
          <p:nvPr/>
        </p:nvSpPr>
        <p:spPr>
          <a:xfrm>
            <a:off x="5309006" y="4436669"/>
            <a:ext cx="625450" cy="1689811"/>
          </a:xfrm>
          <a:prstGeom prst="roundRect">
            <a:avLst>
              <a:gd name="adj" fmla="val 2924"/>
            </a:avLst>
          </a:prstGeom>
          <a:solidFill>
            <a:srgbClr val="0E8C82"/>
          </a:solidFill>
          <a:ln/>
        </p:spPr>
      </p:sp>
      <p:sp>
        <p:nvSpPr>
          <p:cNvPr id="42" name="Shape 40"/>
          <p:cNvSpPr/>
          <p:nvPr/>
        </p:nvSpPr>
        <p:spPr>
          <a:xfrm>
            <a:off x="6007608" y="3873398"/>
            <a:ext cx="625450" cy="2253082"/>
          </a:xfrm>
          <a:prstGeom prst="roundRect">
            <a:avLst>
              <a:gd name="adj" fmla="val 2924"/>
            </a:avLst>
          </a:prstGeom>
          <a:solidFill>
            <a:srgbClr val="1FB6A8"/>
          </a:solidFill>
          <a:ln/>
        </p:spPr>
      </p:sp>
      <p:sp>
        <p:nvSpPr>
          <p:cNvPr id="43" name="Shape 41"/>
          <p:cNvSpPr/>
          <p:nvPr/>
        </p:nvSpPr>
        <p:spPr>
          <a:xfrm>
            <a:off x="6706210" y="4014216"/>
            <a:ext cx="625450" cy="2112264"/>
          </a:xfrm>
          <a:prstGeom prst="roundRect">
            <a:avLst>
              <a:gd name="adj" fmla="val 2924"/>
            </a:avLst>
          </a:prstGeom>
          <a:solidFill>
            <a:srgbClr val="0E8C82"/>
          </a:solidFill>
          <a:ln/>
        </p:spPr>
      </p:sp>
      <p:sp>
        <p:nvSpPr>
          <p:cNvPr id="44" name="Shape 42"/>
          <p:cNvSpPr/>
          <p:nvPr/>
        </p:nvSpPr>
        <p:spPr>
          <a:xfrm>
            <a:off x="7404811" y="3591763"/>
            <a:ext cx="625450" cy="2534717"/>
          </a:xfrm>
          <a:prstGeom prst="roundRect">
            <a:avLst>
              <a:gd name="adj" fmla="val 2924"/>
            </a:avLst>
          </a:prstGeom>
          <a:solidFill>
            <a:srgbClr val="1FB6A8"/>
          </a:solidFill>
          <a:ln/>
        </p:spPr>
      </p:sp>
      <p:sp>
        <p:nvSpPr>
          <p:cNvPr id="45" name="Shape 43"/>
          <p:cNvSpPr/>
          <p:nvPr/>
        </p:nvSpPr>
        <p:spPr>
          <a:xfrm>
            <a:off x="8319211" y="2852928"/>
            <a:ext cx="3065069" cy="3364992"/>
          </a:xfrm>
          <a:prstGeom prst="roundRect">
            <a:avLst>
              <a:gd name="adj" fmla="val 2387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8456371" y="2962656"/>
            <a:ext cx="27907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456371" y="3264408"/>
            <a:ext cx="27907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Fundamentals — Published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456371" y="3538728"/>
            <a:ext cx="27907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Aptitude — In Review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456371" y="3813048"/>
            <a:ext cx="27907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Basics — 42 submissions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456371" y="4087368"/>
            <a:ext cx="27907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Advanced — Archived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FA90099B-F4A4-3E21-9CEC-B23063D9B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0" y="1340104"/>
            <a:ext cx="12192000" cy="5245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Assessment Lifecycle — a strict, auditable state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freely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05456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25496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10" name="Text 8"/>
          <p:cNvSpPr/>
          <p:nvPr/>
        </p:nvSpPr>
        <p:spPr>
          <a:xfrm>
            <a:off x="2825496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25496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Review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25496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Manager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82312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02352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15" name="Text 13"/>
          <p:cNvSpPr/>
          <p:nvPr/>
        </p:nvSpPr>
        <p:spPr>
          <a:xfrm>
            <a:off x="5102352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02352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02352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059168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79208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0E8C82"/>
          </a:solidFill>
          <a:ln/>
        </p:spPr>
      </p:sp>
      <p:sp>
        <p:nvSpPr>
          <p:cNvPr id="20" name="Text 18"/>
          <p:cNvSpPr/>
          <p:nvPr/>
        </p:nvSpPr>
        <p:spPr>
          <a:xfrm>
            <a:off x="7379208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79208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(live)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79208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336024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56064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25" name="Text 23"/>
          <p:cNvSpPr/>
          <p:nvPr/>
        </p:nvSpPr>
        <p:spPr>
          <a:xfrm>
            <a:off x="9656064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56064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56064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37947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EF3FB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977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you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43159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and Archived assessments cannot be edited or deleted — protects the integrity of anything a candidate has already taken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47000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auto-validates the full blueprint before it can go live — no incomplete assessment reaches a candidate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508406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is checked against both role AND organization_id — no cross-tenant approvals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 Designer — Assessment Authoring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assessment / blueprint-designer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2459736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3057754" cy="4325112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011680"/>
            <a:ext cx="27834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Sections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0" y="2350008"/>
            <a:ext cx="2783434" cy="384048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2350008"/>
            <a:ext cx="25091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Aptitude (10 Qs)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68880" y="2825496"/>
            <a:ext cx="2783434" cy="384048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/>
        </p:spPr>
      </p:sp>
      <p:sp>
        <p:nvSpPr>
          <p:cNvPr id="28" name="Text 26"/>
          <p:cNvSpPr/>
          <p:nvPr/>
        </p:nvSpPr>
        <p:spPr>
          <a:xfrm>
            <a:off x="2606040" y="2825496"/>
            <a:ext cx="25091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Technical MCQ (15 Qs)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3300984"/>
            <a:ext cx="2783434" cy="384048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/>
        </p:spPr>
      </p:sp>
      <p:sp>
        <p:nvSpPr>
          <p:cNvPr id="30" name="Text 28"/>
          <p:cNvSpPr/>
          <p:nvPr/>
        </p:nvSpPr>
        <p:spPr>
          <a:xfrm>
            <a:off x="2606040" y="3300984"/>
            <a:ext cx="25091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Coding Challenge (2 Qs)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68880" y="3776472"/>
            <a:ext cx="2783434" cy="384048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/>
        </p:spPr>
      </p:sp>
      <p:sp>
        <p:nvSpPr>
          <p:cNvPr id="32" name="Text 30"/>
          <p:cNvSpPr/>
          <p:nvPr/>
        </p:nvSpPr>
        <p:spPr>
          <a:xfrm>
            <a:off x="2606040" y="3776472"/>
            <a:ext cx="25091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Essay Response (1 Q)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3794" y="1892808"/>
            <a:ext cx="5811926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846674" y="2011680"/>
            <a:ext cx="5446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Configuration — Section 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46674" y="2395728"/>
            <a:ext cx="5446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Type: single_choice, multiple_choice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46674" y="2779776"/>
            <a:ext cx="5446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Marking: -0.25 per wrong answer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46674" y="3163824"/>
            <a:ext cx="5446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Mapping: React · System Design · API Design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46674" y="3547872"/>
            <a:ext cx="5446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Randomization: Enabled (per-candidate shuffle)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46674" y="544068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0A93A"/>
          </a:solidFill>
          <a:ln/>
        </p:spPr>
      </p:sp>
      <p:sp>
        <p:nvSpPr>
          <p:cNvPr id="40" name="Text 38"/>
          <p:cNvSpPr/>
          <p:nvPr/>
        </p:nvSpPr>
        <p:spPr>
          <a:xfrm>
            <a:off x="5846674" y="5440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Bank &amp; Competency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assessment / question-bank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2459736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9052560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029968"/>
            <a:ext cx="3995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64808" y="202996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54696" y="202996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939528" y="2029968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468880" y="2377440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binary search?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64808" y="2377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single_choice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54696" y="23774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939528" y="237744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68880" y="27614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2834640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React's virtual DOM reconciliation.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64808" y="28346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854696" y="28346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939528" y="283464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68880" y="32186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3291840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valid HTTP idempotent methods.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64808" y="32918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multiple_choice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854696" y="32918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939528" y="329184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468880" y="36758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0" y="3749040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rate limiter (coding).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64808" y="37490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854696" y="37490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939528" y="374904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468880" y="41330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0" y="594360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Auto-Tag suggests “Algorithms” and “System Design” with 92% confidence — covered in Part Three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Delivery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Developer Assessment — Section 2 of 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966960" y="1463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F0A93A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: 42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292608" cy="292608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07008" y="2057400"/>
            <a:ext cx="292608" cy="292608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2" name="Text 10"/>
          <p:cNvSpPr/>
          <p:nvPr/>
        </p:nvSpPr>
        <p:spPr>
          <a:xfrm>
            <a:off x="120700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91056" y="2057400"/>
            <a:ext cx="292608" cy="292608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4" name="Text 12"/>
          <p:cNvSpPr/>
          <p:nvPr/>
        </p:nvSpPr>
        <p:spPr>
          <a:xfrm>
            <a:off x="1591056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975104" y="2057400"/>
            <a:ext cx="292608" cy="292608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16" name="Text 14"/>
          <p:cNvSpPr/>
          <p:nvPr/>
        </p:nvSpPr>
        <p:spPr>
          <a:xfrm>
            <a:off x="1975104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59152" y="2057400"/>
            <a:ext cx="292608" cy="292608"/>
          </a:xfrm>
          <a:prstGeom prst="ellipse">
            <a:avLst/>
          </a:prstGeom>
          <a:solidFill>
            <a:srgbClr val="F0A93A"/>
          </a:solidFill>
          <a:ln/>
        </p:spPr>
      </p:sp>
      <p:sp>
        <p:nvSpPr>
          <p:cNvPr id="18" name="Text 16"/>
          <p:cNvSpPr/>
          <p:nvPr/>
        </p:nvSpPr>
        <p:spPr>
          <a:xfrm>
            <a:off x="2359152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0" y="2057400"/>
            <a:ext cx="292608" cy="292608"/>
          </a:xfrm>
          <a:prstGeom prst="ellipse">
            <a:avLst/>
          </a:prstGeom>
          <a:solidFill>
            <a:srgbClr val="D8E0EE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27248" y="2057400"/>
            <a:ext cx="292608" cy="292608"/>
          </a:xfrm>
          <a:prstGeom prst="ellipse">
            <a:avLst/>
          </a:prstGeom>
          <a:solidFill>
            <a:srgbClr val="D8E0EE"/>
          </a:solidFill>
          <a:ln/>
        </p:spPr>
      </p:sp>
      <p:sp>
        <p:nvSpPr>
          <p:cNvPr id="22" name="Text 20"/>
          <p:cNvSpPr/>
          <p:nvPr/>
        </p:nvSpPr>
        <p:spPr>
          <a:xfrm>
            <a:off x="312724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511296" y="2057400"/>
            <a:ext cx="292608" cy="292608"/>
          </a:xfrm>
          <a:prstGeom prst="ellipse">
            <a:avLst/>
          </a:prstGeom>
          <a:solidFill>
            <a:srgbClr val="D8E0EE"/>
          </a:solidFill>
          <a:ln/>
        </p:spPr>
      </p:sp>
      <p:sp>
        <p:nvSpPr>
          <p:cNvPr id="24" name="Text 22"/>
          <p:cNvSpPr/>
          <p:nvPr/>
        </p:nvSpPr>
        <p:spPr>
          <a:xfrm>
            <a:off x="3511296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95344" y="2057400"/>
            <a:ext cx="292608" cy="292608"/>
          </a:xfrm>
          <a:prstGeom prst="ellipse">
            <a:avLst/>
          </a:prstGeom>
          <a:solidFill>
            <a:srgbClr val="D8E0EE"/>
          </a:solidFill>
          <a:ln/>
        </p:spPr>
      </p:sp>
      <p:sp>
        <p:nvSpPr>
          <p:cNvPr id="26" name="Text 24"/>
          <p:cNvSpPr/>
          <p:nvPr/>
        </p:nvSpPr>
        <p:spPr>
          <a:xfrm>
            <a:off x="3895344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79392" y="2057400"/>
            <a:ext cx="292608" cy="292608"/>
          </a:xfrm>
          <a:prstGeom prst="ellipse">
            <a:avLst/>
          </a:prstGeom>
          <a:solidFill>
            <a:srgbClr val="D8E0EE"/>
          </a:solidFill>
          <a:ln/>
        </p:spPr>
      </p:sp>
      <p:sp>
        <p:nvSpPr>
          <p:cNvPr id="28" name="Text 26"/>
          <p:cNvSpPr/>
          <p:nvPr/>
        </p:nvSpPr>
        <p:spPr>
          <a:xfrm>
            <a:off x="4279392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2057400"/>
            <a:ext cx="292608" cy="292608"/>
          </a:xfrm>
          <a:prstGeom prst="ellipse">
            <a:avLst/>
          </a:prstGeom>
          <a:solidFill>
            <a:srgbClr val="D8E0EE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47488" y="2057400"/>
            <a:ext cx="292608" cy="292608"/>
          </a:xfrm>
          <a:prstGeom prst="ellipse">
            <a:avLst/>
          </a:prstGeom>
          <a:solidFill>
            <a:srgbClr val="D8E0EE"/>
          </a:solidFill>
          <a:ln/>
        </p:spPr>
      </p:sp>
      <p:sp>
        <p:nvSpPr>
          <p:cNvPr id="32" name="Text 30"/>
          <p:cNvSpPr/>
          <p:nvPr/>
        </p:nvSpPr>
        <p:spPr>
          <a:xfrm>
            <a:off x="504748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22960" y="2560320"/>
            <a:ext cx="10515600" cy="3154680"/>
          </a:xfrm>
          <a:prstGeom prst="roundRect">
            <a:avLst>
              <a:gd name="adj" fmla="val 2319"/>
            </a:avLst>
          </a:prstGeom>
          <a:solidFill>
            <a:srgbClr val="EEF3FB"/>
          </a:solidFill>
          <a:ln/>
        </p:spPr>
      </p:sp>
      <p:sp>
        <p:nvSpPr>
          <p:cNvPr id="34" name="Text 32"/>
          <p:cNvSpPr/>
          <p:nvPr/>
        </p:nvSpPr>
        <p:spPr>
          <a:xfrm>
            <a:off x="105156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Which hook should you use to memoize an expensive computation between renders?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51560" y="3429000"/>
            <a:ext cx="10058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34440" y="34290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51560" y="3904488"/>
            <a:ext cx="10058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34440" y="39044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51560" y="4379976"/>
            <a:ext cx="10058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34440" y="437997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useCallback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51560" y="4855464"/>
            <a:ext cx="10058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34440" y="485546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useRef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784080" y="585216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0E8C82"/>
          </a:solidFill>
          <a:ln/>
        </p:spPr>
      </p:sp>
      <p:sp>
        <p:nvSpPr>
          <p:cNvPr id="44" name="Text 42"/>
          <p:cNvSpPr/>
          <p:nvPr/>
        </p:nvSpPr>
        <p:spPr>
          <a:xfrm>
            <a:off x="9784080" y="5852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Next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6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Monitor — Live Delivery Oversight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delivery / session-monitor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" y="2788920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9052560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02996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01184" y="202996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33488" y="202996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897112" y="2029968"/>
            <a:ext cx="11292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Left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026396" y="2029968"/>
            <a:ext cx="11292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468880" y="23774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Kulkarni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01184" y="23774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Developer Assessment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333488" y="23774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897112" y="2377440"/>
            <a:ext cx="103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18:42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072116" y="2432304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0E8C82"/>
          </a:solidFill>
          <a:ln/>
        </p:spPr>
      </p:sp>
      <p:sp>
        <p:nvSpPr>
          <p:cNvPr id="34" name="Text 32"/>
          <p:cNvSpPr/>
          <p:nvPr/>
        </p:nvSpPr>
        <p:spPr>
          <a:xfrm>
            <a:off x="10072116" y="2432304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468880" y="27614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28346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Nair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01184" y="28346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Advanced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33488" y="28346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27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897112" y="2834640"/>
            <a:ext cx="103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072116" y="2889504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1FB6A8"/>
          </a:solidFill>
          <a:ln/>
        </p:spPr>
      </p:sp>
      <p:sp>
        <p:nvSpPr>
          <p:cNvPr id="41" name="Text 39"/>
          <p:cNvSpPr/>
          <p:nvPr/>
        </p:nvSpPr>
        <p:spPr>
          <a:xfrm>
            <a:off x="10072116" y="2889504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468880" y="32186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0" y="32918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Shankar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01184" y="32918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Aptitude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33488" y="32918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897112" y="3291840"/>
            <a:ext cx="103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02:15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072116" y="3346704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F0A93A"/>
          </a:solidFill>
          <a:ln/>
        </p:spPr>
      </p:sp>
      <p:sp>
        <p:nvSpPr>
          <p:cNvPr id="48" name="Text 46"/>
          <p:cNvSpPr/>
          <p:nvPr/>
        </p:nvSpPr>
        <p:spPr>
          <a:xfrm>
            <a:off x="10072116" y="3346704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Low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468880" y="36758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68880" y="37490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Sheikh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01184" y="37490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Fundamentals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333488" y="37490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30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897112" y="3749040"/>
            <a:ext cx="103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45:00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0072116" y="3803904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9AA6BF"/>
          </a:solidFill>
          <a:ln/>
        </p:spPr>
      </p:sp>
      <p:sp>
        <p:nvSpPr>
          <p:cNvPr id="55" name="Text 53"/>
          <p:cNvSpPr/>
          <p:nvPr/>
        </p:nvSpPr>
        <p:spPr>
          <a:xfrm>
            <a:off x="10072116" y="3803904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468880" y="4133088"/>
            <a:ext cx="8686800" cy="0"/>
          </a:xfrm>
          <a:prstGeom prst="line">
            <a:avLst/>
          </a:prstGeom>
          <a:noFill/>
          <a:ln w="6350">
            <a:solidFill>
              <a:srgbClr val="D8E0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7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Dashboard &amp; Manual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results / manual-review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" y="3118104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2677363" cy="4325112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011680"/>
            <a:ext cx="24030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Grading Queue (7)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0" y="2350008"/>
            <a:ext cx="2403043" cy="384048"/>
          </a:xfrm>
          <a:prstGeom prst="roundRect">
            <a:avLst>
              <a:gd name="adj" fmla="val 9524"/>
            </a:avLst>
          </a:prstGeom>
          <a:solidFill>
            <a:srgbClr val="0E8C82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2350008"/>
            <a:ext cx="2128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K. — Essay Q4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68880" y="2825496"/>
            <a:ext cx="2403043" cy="384048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/>
        </p:spPr>
      </p:sp>
      <p:sp>
        <p:nvSpPr>
          <p:cNvPr id="28" name="Text 26"/>
          <p:cNvSpPr/>
          <p:nvPr/>
        </p:nvSpPr>
        <p:spPr>
          <a:xfrm>
            <a:off x="2606040" y="2825496"/>
            <a:ext cx="2128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N. — Code Q2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3300984"/>
            <a:ext cx="2403043" cy="384048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/>
        </p:spPr>
      </p:sp>
      <p:sp>
        <p:nvSpPr>
          <p:cNvPr id="30" name="Text 28"/>
          <p:cNvSpPr/>
          <p:nvPr/>
        </p:nvSpPr>
        <p:spPr>
          <a:xfrm>
            <a:off x="2606040" y="3300984"/>
            <a:ext cx="2128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S. — Essay Q1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68880" y="3776472"/>
            <a:ext cx="2403043" cy="384048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/>
        </p:spPr>
      </p:sp>
      <p:sp>
        <p:nvSpPr>
          <p:cNvPr id="32" name="Text 30"/>
          <p:cNvSpPr/>
          <p:nvPr/>
        </p:nvSpPr>
        <p:spPr>
          <a:xfrm>
            <a:off x="2606040" y="3776472"/>
            <a:ext cx="2128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S. — Code Q1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283403" y="1892808"/>
            <a:ext cx="6192317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66283" y="2011680"/>
            <a:ext cx="5826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K. — Essay Q4: “Explain reconciliation in React”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66283" y="2322576"/>
            <a:ext cx="58265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response: “React compares the new virtual DOM tree with the previous one, diffing nodes...”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66283" y="2944368"/>
            <a:ext cx="47292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Accuracy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241280" y="29260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FEFEA"/>
          </a:solidFill>
          <a:ln/>
        </p:spPr>
      </p:sp>
      <p:sp>
        <p:nvSpPr>
          <p:cNvPr id="38" name="Text 36"/>
          <p:cNvSpPr/>
          <p:nvPr/>
        </p:nvSpPr>
        <p:spPr>
          <a:xfrm>
            <a:off x="10241280" y="2926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4 / 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66283" y="3310128"/>
            <a:ext cx="47292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of Explanation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241280" y="32918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FEFEA"/>
          </a:solidFill>
          <a:ln/>
        </p:spPr>
      </p:sp>
      <p:sp>
        <p:nvSpPr>
          <p:cNvPr id="41" name="Text 39"/>
          <p:cNvSpPr/>
          <p:nvPr/>
        </p:nvSpPr>
        <p:spPr>
          <a:xfrm>
            <a:off x="10241280" y="32918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4 / 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66283" y="3675888"/>
            <a:ext cx="47292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Correct Terminology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241280" y="36576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FEFEA"/>
          </a:solidFill>
          <a:ln/>
        </p:spPr>
      </p:sp>
      <p:sp>
        <p:nvSpPr>
          <p:cNvPr id="44" name="Text 42"/>
          <p:cNvSpPr/>
          <p:nvPr/>
        </p:nvSpPr>
        <p:spPr>
          <a:xfrm>
            <a:off x="10241280" y="3657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4 / 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66283" y="562356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F0A93A"/>
          </a:solidFill>
          <a:ln/>
        </p:spPr>
      </p:sp>
      <p:sp>
        <p:nvSpPr>
          <p:cNvPr id="46" name="Text 44"/>
          <p:cNvSpPr/>
          <p:nvPr/>
        </p:nvSpPr>
        <p:spPr>
          <a:xfrm>
            <a:off x="5466283" y="5623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Score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8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Dashboard &amp; Candidate Score 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results / dashboard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" y="3118104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2867558" cy="4325112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2029968"/>
            <a:ext cx="25017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Amit Kulkarni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14600" y="2286000"/>
            <a:ext cx="2501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Developer Assessment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14600" y="2624328"/>
            <a:ext cx="25017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4000" dirty="0"/>
          </a:p>
        </p:txBody>
      </p:sp>
      <p:sp>
        <p:nvSpPr>
          <p:cNvPr id="27" name="Shape 25"/>
          <p:cNvSpPr/>
          <p:nvPr/>
        </p:nvSpPr>
        <p:spPr>
          <a:xfrm>
            <a:off x="2514600" y="3355848"/>
            <a:ext cx="1097280" cy="320040"/>
          </a:xfrm>
          <a:prstGeom prst="roundRect">
            <a:avLst>
              <a:gd name="adj" fmla="val 51429"/>
            </a:avLst>
          </a:prstGeom>
          <a:solidFill>
            <a:srgbClr val="1FB6A8"/>
          </a:solidFill>
          <a:ln/>
        </p:spPr>
      </p:sp>
      <p:sp>
        <p:nvSpPr>
          <p:cNvPr id="28" name="Text 26"/>
          <p:cNvSpPr/>
          <p:nvPr/>
        </p:nvSpPr>
        <p:spPr>
          <a:xfrm>
            <a:off x="2514600" y="33558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73598" y="1892808"/>
            <a:ext cx="6002122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656478" y="2011680"/>
            <a:ext cx="5636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Breakdown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56478" y="2377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93838" y="2404872"/>
            <a:ext cx="3716122" cy="18288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/>
        </p:spPr>
      </p:sp>
      <p:sp>
        <p:nvSpPr>
          <p:cNvPr id="33" name="Shape 31"/>
          <p:cNvSpPr/>
          <p:nvPr/>
        </p:nvSpPr>
        <p:spPr>
          <a:xfrm>
            <a:off x="7393838" y="2404872"/>
            <a:ext cx="3344509" cy="182880"/>
          </a:xfrm>
          <a:prstGeom prst="roundRect">
            <a:avLst>
              <a:gd name="adj" fmla="val 50000"/>
            </a:avLst>
          </a:prstGeom>
          <a:solidFill>
            <a:srgbClr val="0E8C82"/>
          </a:solidFill>
          <a:ln/>
        </p:spPr>
      </p:sp>
      <p:sp>
        <p:nvSpPr>
          <p:cNvPr id="34" name="Text 32"/>
          <p:cNvSpPr/>
          <p:nvPr/>
        </p:nvSpPr>
        <p:spPr>
          <a:xfrm>
            <a:off x="5656478" y="2779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93838" y="2807208"/>
            <a:ext cx="3716122" cy="18288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/>
        </p:spPr>
      </p:sp>
      <p:sp>
        <p:nvSpPr>
          <p:cNvPr id="36" name="Shape 34"/>
          <p:cNvSpPr/>
          <p:nvPr/>
        </p:nvSpPr>
        <p:spPr>
          <a:xfrm>
            <a:off x="7393838" y="2807208"/>
            <a:ext cx="2303995" cy="182880"/>
          </a:xfrm>
          <a:prstGeom prst="roundRect">
            <a:avLst>
              <a:gd name="adj" fmla="val 50000"/>
            </a:avLst>
          </a:prstGeom>
          <a:solidFill>
            <a:srgbClr val="0E8C82"/>
          </a:solidFill>
          <a:ln/>
        </p:spPr>
      </p:sp>
      <p:sp>
        <p:nvSpPr>
          <p:cNvPr id="37" name="Text 35"/>
          <p:cNvSpPr/>
          <p:nvPr/>
        </p:nvSpPr>
        <p:spPr>
          <a:xfrm>
            <a:off x="5656478" y="3182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93838" y="3209544"/>
            <a:ext cx="3716122" cy="18288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/>
        </p:spPr>
      </p:sp>
      <p:sp>
        <p:nvSpPr>
          <p:cNvPr id="39" name="Shape 37"/>
          <p:cNvSpPr/>
          <p:nvPr/>
        </p:nvSpPr>
        <p:spPr>
          <a:xfrm>
            <a:off x="7393838" y="3209544"/>
            <a:ext cx="1672255" cy="182880"/>
          </a:xfrm>
          <a:prstGeom prst="roundRect">
            <a:avLst>
              <a:gd name="adj" fmla="val 50000"/>
            </a:avLst>
          </a:prstGeom>
          <a:solidFill>
            <a:srgbClr val="C0483C"/>
          </a:solidFill>
          <a:ln/>
        </p:spPr>
      </p:sp>
      <p:sp>
        <p:nvSpPr>
          <p:cNvPr id="40" name="Text 38"/>
          <p:cNvSpPr/>
          <p:nvPr/>
        </p:nvSpPr>
        <p:spPr>
          <a:xfrm>
            <a:off x="5656478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93838" y="3611880"/>
            <a:ext cx="3716122" cy="18288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/>
        </p:spPr>
      </p:sp>
      <p:sp>
        <p:nvSpPr>
          <p:cNvPr id="42" name="Shape 40"/>
          <p:cNvSpPr/>
          <p:nvPr/>
        </p:nvSpPr>
        <p:spPr>
          <a:xfrm>
            <a:off x="7393838" y="3611880"/>
            <a:ext cx="2898575" cy="182880"/>
          </a:xfrm>
          <a:prstGeom prst="roundRect">
            <a:avLst>
              <a:gd name="adj" fmla="val 50000"/>
            </a:avLst>
          </a:prstGeom>
          <a:solidFill>
            <a:srgbClr val="0E8C82"/>
          </a:solidFill>
          <a:ln/>
        </p:spPr>
      </p:sp>
      <p:sp>
        <p:nvSpPr>
          <p:cNvPr id="43" name="Text 41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9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 — KPIs, Heatmaps &amp; Trends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analytics / dashboard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" y="3447288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5325466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1984248"/>
            <a:ext cx="4959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Trend — Last 6 Cohorts</a:t>
            </a:r>
            <a:endParaRPr lang="en-US" sz="9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514600" y="2258568"/>
          <a:ext cx="4959706" cy="3822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7931506" y="1892808"/>
            <a:ext cx="3544214" cy="4325112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8068666" y="1984248"/>
            <a:ext cx="3269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Heatmap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114386" y="2304288"/>
            <a:ext cx="986333" cy="502920"/>
          </a:xfrm>
          <a:prstGeom prst="roundRect">
            <a:avLst>
              <a:gd name="adj" fmla="val 5455"/>
            </a:avLst>
          </a:prstGeom>
          <a:solidFill>
            <a:srgbClr val="0E8C82"/>
          </a:solidFill>
          <a:ln/>
        </p:spPr>
      </p:sp>
      <p:sp>
        <p:nvSpPr>
          <p:cNvPr id="29" name="Text 26"/>
          <p:cNvSpPr/>
          <p:nvPr/>
        </p:nvSpPr>
        <p:spPr>
          <a:xfrm>
            <a:off x="8114386" y="2304288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173870" y="2304288"/>
            <a:ext cx="986333" cy="502920"/>
          </a:xfrm>
          <a:prstGeom prst="roundRect">
            <a:avLst>
              <a:gd name="adj" fmla="val 5455"/>
            </a:avLst>
          </a:prstGeom>
          <a:solidFill>
            <a:srgbClr val="C0483C"/>
          </a:solidFill>
          <a:ln/>
        </p:spPr>
      </p:sp>
      <p:sp>
        <p:nvSpPr>
          <p:cNvPr id="31" name="Text 28"/>
          <p:cNvSpPr/>
          <p:nvPr/>
        </p:nvSpPr>
        <p:spPr>
          <a:xfrm>
            <a:off x="9173870" y="2304288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0233355" y="2304288"/>
            <a:ext cx="986333" cy="502920"/>
          </a:xfrm>
          <a:prstGeom prst="roundRect">
            <a:avLst>
              <a:gd name="adj" fmla="val 5455"/>
            </a:avLst>
          </a:prstGeom>
          <a:solidFill>
            <a:srgbClr val="1FB6A8"/>
          </a:solidFill>
          <a:ln/>
        </p:spPr>
      </p:sp>
      <p:sp>
        <p:nvSpPr>
          <p:cNvPr id="33" name="Text 30"/>
          <p:cNvSpPr/>
          <p:nvPr/>
        </p:nvSpPr>
        <p:spPr>
          <a:xfrm>
            <a:off x="10233355" y="2304288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114386" y="2880360"/>
            <a:ext cx="986333" cy="502920"/>
          </a:xfrm>
          <a:prstGeom prst="roundRect">
            <a:avLst>
              <a:gd name="adj" fmla="val 5455"/>
            </a:avLst>
          </a:prstGeom>
          <a:solidFill>
            <a:srgbClr val="1FB6A8"/>
          </a:solidFill>
          <a:ln/>
        </p:spPr>
      </p:sp>
      <p:sp>
        <p:nvSpPr>
          <p:cNvPr id="35" name="Text 32"/>
          <p:cNvSpPr/>
          <p:nvPr/>
        </p:nvSpPr>
        <p:spPr>
          <a:xfrm>
            <a:off x="8114386" y="2880360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9173870" y="2880360"/>
            <a:ext cx="986333" cy="502920"/>
          </a:xfrm>
          <a:prstGeom prst="roundRect">
            <a:avLst>
              <a:gd name="adj" fmla="val 5455"/>
            </a:avLst>
          </a:prstGeom>
          <a:solidFill>
            <a:srgbClr val="C0483C"/>
          </a:solidFill>
          <a:ln/>
        </p:spPr>
      </p:sp>
      <p:sp>
        <p:nvSpPr>
          <p:cNvPr id="37" name="Text 34"/>
          <p:cNvSpPr/>
          <p:nvPr/>
        </p:nvSpPr>
        <p:spPr>
          <a:xfrm>
            <a:off x="9173870" y="2880360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10233355" y="2880360"/>
            <a:ext cx="986333" cy="502920"/>
          </a:xfrm>
          <a:prstGeom prst="roundRect">
            <a:avLst>
              <a:gd name="adj" fmla="val 5455"/>
            </a:avLst>
          </a:prstGeom>
          <a:solidFill>
            <a:srgbClr val="0E8C82"/>
          </a:solidFill>
          <a:ln/>
        </p:spPr>
      </p:sp>
      <p:sp>
        <p:nvSpPr>
          <p:cNvPr id="39" name="Text 36"/>
          <p:cNvSpPr/>
          <p:nvPr/>
        </p:nvSpPr>
        <p:spPr>
          <a:xfrm>
            <a:off x="10233355" y="2880360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114386" y="3456432"/>
            <a:ext cx="986333" cy="502920"/>
          </a:xfrm>
          <a:prstGeom prst="roundRect">
            <a:avLst>
              <a:gd name="adj" fmla="val 5455"/>
            </a:avLst>
          </a:prstGeom>
          <a:solidFill>
            <a:srgbClr val="1FB6A8"/>
          </a:solidFill>
          <a:ln/>
        </p:spPr>
      </p:sp>
      <p:sp>
        <p:nvSpPr>
          <p:cNvPr id="41" name="Text 38"/>
          <p:cNvSpPr/>
          <p:nvPr/>
        </p:nvSpPr>
        <p:spPr>
          <a:xfrm>
            <a:off x="8114386" y="3456432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9173870" y="3456432"/>
            <a:ext cx="986333" cy="502920"/>
          </a:xfrm>
          <a:prstGeom prst="roundRect">
            <a:avLst>
              <a:gd name="adj" fmla="val 5455"/>
            </a:avLst>
          </a:prstGeom>
          <a:solidFill>
            <a:srgbClr val="C0483C"/>
          </a:solidFill>
          <a:ln/>
        </p:spPr>
      </p:sp>
      <p:sp>
        <p:nvSpPr>
          <p:cNvPr id="43" name="Text 40"/>
          <p:cNvSpPr/>
          <p:nvPr/>
        </p:nvSpPr>
        <p:spPr>
          <a:xfrm>
            <a:off x="9173870" y="3456432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10233355" y="3456432"/>
            <a:ext cx="986333" cy="502920"/>
          </a:xfrm>
          <a:prstGeom prst="roundRect">
            <a:avLst>
              <a:gd name="adj" fmla="val 5455"/>
            </a:avLst>
          </a:prstGeom>
          <a:solidFill>
            <a:srgbClr val="0E8C82"/>
          </a:solidFill>
          <a:ln/>
        </p:spPr>
      </p:sp>
      <p:sp>
        <p:nvSpPr>
          <p:cNvPr id="45" name="Text 42"/>
          <p:cNvSpPr/>
          <p:nvPr/>
        </p:nvSpPr>
        <p:spPr>
          <a:xfrm>
            <a:off x="10233355" y="3456432"/>
            <a:ext cx="9863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10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Reporting, Certificates &amp; Public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Exportable Reports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Report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/ PDF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2679192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6791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Report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0" y="26791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/ PDF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3300984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3009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Report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0" y="33009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/ PDF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3922776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9227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Report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0" y="39227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/ PDF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137160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17264D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6459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46520" y="2148840"/>
            <a:ext cx="4892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FB6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423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Amit Kulkarni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27889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successfully completed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29400" y="30632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Developer Assessment — Score: 82%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29400" y="35204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SF-2026-88213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46520" y="4206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Verification Portal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4572000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5720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Certificate ID to verify…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515600" y="457200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0A93A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0" y="45720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46520" y="5166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employer or third party can independently confirm a certificate is genuine — no login required.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11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Billing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1F4F9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1064240" cy="73152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9903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app.snapflect.io / governance / billing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1554480" cy="4782312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" y="2130552"/>
            <a:ext cx="1408176" cy="274320"/>
          </a:xfrm>
          <a:prstGeom prst="roundRect">
            <a:avLst>
              <a:gd name="adj" fmla="val 16667"/>
            </a:avLst>
          </a:prstGeom>
          <a:solidFill>
            <a:srgbClr val="0E8C8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664208"/>
            <a:ext cx="9509760" cy="478231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31720" y="1892808"/>
            <a:ext cx="3628339" cy="43251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011680"/>
            <a:ext cx="3354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Structure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468880" y="2350008"/>
            <a:ext cx="33540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Virtusa (Organization)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68880" y="2715768"/>
            <a:ext cx="33540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↳ Business Unit: Client 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3081528"/>
            <a:ext cx="33540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↳ Business Unit: Client 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3447288"/>
            <a:ext cx="33540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↳ Business Unit: Client 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68880" y="3813048"/>
            <a:ext cx="33540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48   Roles: 6   Depts: 12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34379" y="1892808"/>
            <a:ext cx="5241341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17259" y="2011680"/>
            <a:ext cx="4875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Usage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17259" y="235000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FB6A8"/>
          </a:solidFill>
          <a:ln/>
        </p:spPr>
      </p:sp>
      <p:sp>
        <p:nvSpPr>
          <p:cNvPr id="33" name="Text 31"/>
          <p:cNvSpPr/>
          <p:nvPr/>
        </p:nvSpPr>
        <p:spPr>
          <a:xfrm>
            <a:off x="6417259" y="2350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17259" y="2898648"/>
            <a:ext cx="48755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Candidates: 5,000 / mo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17259" y="3264408"/>
            <a:ext cx="48755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This Cycle: 3,214 (64%)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17259" y="3630168"/>
            <a:ext cx="48755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Invoice: Aug 1, 2026 — $12,400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17259" y="3995928"/>
            <a:ext cx="48755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Method: Corporate card •••1187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029200" cy="50292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5029200"/>
            <a:ext cx="2377440" cy="237744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Enrichment Vision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generative AI removes admin and reviewer busywork — without ever touching the candidate directly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assists your team — never a candidate-facing feature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66558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819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reviewer-facing only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8745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feature targets Assessment Managers, Reviewers, and Admins — no AI chatbot or AI-generated report ever reaches a candidate.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2653132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94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Human-in-the-loop, always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71600" y="286207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a score, a tag, or a draft — a person confirms it before it counts.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57530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640684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570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isolation by design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71600" y="384962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internal AI Gateway enforces that no prompt ever mixes data across Organizations or Business Units.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456285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628236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5445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Gemini, OpenAI, or Bring-Your-Own-Key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371600" y="4837176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between providers, or route candidate data through your own enterprise LLM contract.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223760" y="1600200"/>
            <a:ext cx="4389120" cy="4434840"/>
          </a:xfrm>
          <a:prstGeom prst="roundRect">
            <a:avLst>
              <a:gd name="adj" fmla="val 1667"/>
            </a:avLst>
          </a:prstGeom>
          <a:solidFill>
            <a:srgbClr val="17264D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45236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(Internal)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452360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3" name="Text 17"/>
          <p:cNvSpPr/>
          <p:nvPr/>
        </p:nvSpPr>
        <p:spPr>
          <a:xfrm>
            <a:off x="7452360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700" dirty="0"/>
          </a:p>
        </p:txBody>
      </p:sp>
      <p:sp>
        <p:nvSpPr>
          <p:cNvPr id="24" name="Shape 18"/>
          <p:cNvSpPr/>
          <p:nvPr/>
        </p:nvSpPr>
        <p:spPr>
          <a:xfrm>
            <a:off x="8439912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5" name="Text 19"/>
          <p:cNvSpPr/>
          <p:nvPr/>
        </p:nvSpPr>
        <p:spPr>
          <a:xfrm>
            <a:off x="8439912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9427464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7" name="Text 21"/>
          <p:cNvSpPr/>
          <p:nvPr/>
        </p:nvSpPr>
        <p:spPr>
          <a:xfrm>
            <a:off x="9427464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700" dirty="0"/>
          </a:p>
        </p:txBody>
      </p:sp>
      <p:sp>
        <p:nvSpPr>
          <p:cNvPr id="28" name="Shape 22"/>
          <p:cNvSpPr/>
          <p:nvPr/>
        </p:nvSpPr>
        <p:spPr>
          <a:xfrm>
            <a:off x="10415016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9" name="Text 23"/>
          <p:cNvSpPr/>
          <p:nvPr/>
        </p:nvSpPr>
        <p:spPr>
          <a:xfrm>
            <a:off x="10415016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30" name="Shape 24"/>
          <p:cNvSpPr/>
          <p:nvPr/>
        </p:nvSpPr>
        <p:spPr>
          <a:xfrm>
            <a:off x="768096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E8C82"/>
          </a:solidFill>
          <a:ln/>
        </p:spPr>
      </p:sp>
      <p:sp>
        <p:nvSpPr>
          <p:cNvPr id="31" name="Text 25"/>
          <p:cNvSpPr/>
          <p:nvPr/>
        </p:nvSpPr>
        <p:spPr>
          <a:xfrm>
            <a:off x="768096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Service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680960" y="338328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3" name="Text 27"/>
          <p:cNvSpPr/>
          <p:nvPr/>
        </p:nvSpPr>
        <p:spPr>
          <a:xfrm>
            <a:off x="78181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Scope Enforcer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7680960" y="3822192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5" name="Text 29"/>
          <p:cNvSpPr/>
          <p:nvPr/>
        </p:nvSpPr>
        <p:spPr>
          <a:xfrm>
            <a:off x="7818120" y="3822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&amp; Cost Meter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7680960" y="4261104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7" name="Text 31"/>
          <p:cNvSpPr/>
          <p:nvPr/>
        </p:nvSpPr>
        <p:spPr>
          <a:xfrm>
            <a:off x="7818120" y="42611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Log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7680960" y="4700016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9" name="Text 33"/>
          <p:cNvSpPr/>
          <p:nvPr/>
        </p:nvSpPr>
        <p:spPr>
          <a:xfrm>
            <a:off x="7818120" y="47000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Failover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SPOTLIGHT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Authoring — minutes instead of hours per blueprint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7113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Question Generation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job description or HR manual — AI drafts a full blueprint of MCQ, multi-select and essay questions mapped to competencies.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264398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0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Competency Auto-Tagging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28529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Manually-written questions get suggested competency tags with a confidence score — low-confidence suggestions route for manual confirmation.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57667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&amp; Penalty Prediction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37856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negative marking and weighting based on semantic complexity — always advisory, author confirms before it applies.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4398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50936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256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 Balance Checker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47183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publication, AI flags coverage gaps — e.g. zero questions mapped to a stated competency — inside the existing publish workflow.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SPOTLIGHT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Fairer Evaluation — AI drafts, your reviewers decide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7113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Assist Mode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pre-fills a draft rubric score per criterion right inside the Manual Review screen — reviewers edit instead of starting blank.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264398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0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Essay Evaluation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28529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scores open-text answers against your rubric (grammar, technical accuracy, tone) and shows its justification alongside the score.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57667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Evaluation Agent (via MCP)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37856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code runs in a secure sandbox against hidden test cases; an AI agent reviews quality, complexity and security — beyond pass/fail.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4398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50936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256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Plagiarism &amp; AI-Content Signal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47183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likely copy-pasted or AI-generated responses as a reviewer signal, never an automatic fail — protects against false positives.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SPOTLIGHT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Analytics — ask a question, get an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7113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Chat-with-Data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Admins ask in plain English — “Show candidates who scored above 80% in React but failed API Design” — answered from a tenant-scoped, read-only query engine.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264398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0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Assessments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28529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telemetry to flag flawed questions — e.g. 95% of top performers answer incorrectly — and routes them to a human review queue.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57667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Comparison Narratives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37856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summary paragraph on the analytics dashboard turns charts into something a non-technical admin can act on immediately.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4398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50936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256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Cost Forecasting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47183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next-cycle AI spend per tenant from current usage trends — no surprise Pay-As-You-Go invoices.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commercial models — for direct clients and partners alike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93008" cy="4389120"/>
          </a:xfrm>
          <a:prstGeom prst="roundRect">
            <a:avLst>
              <a:gd name="adj" fmla="val 2094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18941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Subscription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number of AI-processed candidates and tokens bundled into Premium and Enterprise tiers.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5394960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FB6A8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394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predictable monthly volume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78808" y="1600200"/>
            <a:ext cx="3493008" cy="4389120"/>
          </a:xfrm>
          <a:prstGeom prst="roundRect">
            <a:avLst>
              <a:gd name="adj" fmla="val 2094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07408" y="1828800"/>
            <a:ext cx="502920" cy="50292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788" y="189418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07408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Pay-As-You-Go (Credits)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07408" y="30175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(RAG, scoring) and session-minutes metered separately, billed at cycle end as credits.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407408" y="5394960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FB6A8"/>
          </a:solidFill>
          <a:ln/>
        </p:spPr>
      </p:sp>
      <p:sp>
        <p:nvSpPr>
          <p:cNvPr id="17" name="Text 13"/>
          <p:cNvSpPr/>
          <p:nvPr/>
        </p:nvSpPr>
        <p:spPr>
          <a:xfrm>
            <a:off x="4498848" y="5394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variable or seasonal hiring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808976" y="1600200"/>
            <a:ext cx="3493008" cy="4389120"/>
          </a:xfrm>
          <a:prstGeom prst="roundRect">
            <a:avLst>
              <a:gd name="adj" fmla="val 2094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37576" y="1828800"/>
            <a:ext cx="502920" cy="50292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956" y="1894180"/>
            <a:ext cx="372161" cy="3721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37576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Key (BYOK)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037576" y="30175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clients supply their own OpenAI / Gemini key — token cost passes to their cloud bill; we charge a flat platform fee.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037576" y="5394960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FB6A8"/>
          </a:solidFill>
          <a:ln/>
        </p:spPr>
      </p:sp>
      <p:sp>
        <p:nvSpPr>
          <p:cNvPr id="24" name="Text 19"/>
          <p:cNvSpPr/>
          <p:nvPr/>
        </p:nvSpPr>
        <p:spPr>
          <a:xfrm>
            <a:off x="8129016" y="5394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 enterprises with existing LLM contracts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SnapFlect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20313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two business models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and B2B2B run on the same codebase — no forked deployment for partners.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180" y="203134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enforced at the policy layer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hidden in the UI — cross-tenant access is denied server-side, every time.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40" y="413446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Governed, auditable lifecycle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state machine protects published assessments from accidental change.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26480" y="3794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06908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6180" y="413446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roadmap with guardrails built in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0080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Admin/reviewer-facing only, human-in-the-loop, tenant-scoped by design — not bolted on after the fact.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7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457200"/>
            <a:ext cx="2560320" cy="256032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scope your rollout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293979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8620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scoping call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3154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SSO needs, tenant structure, and which AI features matter most to you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37170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6393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 pilot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3931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runs a real assessment cycle in a dedicated Organization tenant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" y="443484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49427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4165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63040" y="47091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rollout with your chosen billing model — tiered, PAYG, or BYOK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22960" y="5806440"/>
            <a:ext cx="2743200" cy="0"/>
          </a:xfrm>
          <a:prstGeom prst="line">
            <a:avLst/>
          </a:prstGeom>
          <a:noFill/>
          <a:ln w="19050">
            <a:solidFill>
              <a:srgbClr val="0E8C8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 anytime.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3444</Words>
  <Application>Microsoft Office PowerPoint</Application>
  <PresentationFormat>Widescreen</PresentationFormat>
  <Paragraphs>548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SnapFlect Product Demo Deck</dc:title>
  <dc:subject>PptxGenJS Presentation</dc:subject>
  <dc:creator>SnapFlect</dc:creator>
  <cp:lastModifiedBy>Rizwana Ibrahim</cp:lastModifiedBy>
  <cp:revision>2</cp:revision>
  <dcterms:created xsi:type="dcterms:W3CDTF">2026-07-09T06:34:50Z</dcterms:created>
  <dcterms:modified xsi:type="dcterms:W3CDTF">2026-07-09T07:45:48Z</dcterms:modified>
</cp:coreProperties>
</file>