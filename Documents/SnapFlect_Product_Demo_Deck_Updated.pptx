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0E8C82"/>
            </a:solidFill>
            <a:ln w="31750" cap="flat">
              <a:solidFill>
                <a:srgbClr val="0E8C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8C82"/>
              </a:solidFill>
              <a:ln w="9525" cap="flat">
                <a:solidFill>
                  <a:srgbClr val="0E8C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71</c:v>
                </c:pt>
                <c:pt idx="2">
                  <c:v>74</c:v>
                </c:pt>
                <c:pt idx="3">
                  <c:v>70</c:v>
                </c:pt>
                <c:pt idx="4">
                  <c:v>78</c:v>
                </c:pt>
                <c:pt idx="5">
                  <c:v>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'Whether your prospect is a direct enterprise buyer or an assessment/training partner reselling to their own clients, it's the same underlying platform — no forked codebase, no special build.' Use this slide to ask the prospect directly which model fits them before the live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transition in the assessment lifecycle (next section) checks both the role AND the organization_id match — cross-tenant access is denied at the policy layer, not just hidden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'Let's stop talking about the architecture and go look at the actual product. I'll walk the same path a real assessment takes — from an admin building it, to a candidate taking it, to a reviewer scoring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the login page and point out the tenant subdomain in the URL bar. Log in as a Client Admin first. Mention: 'Notice I never typed which organization I belong to — that's already resolved by how I got here, and everything downstream is scoped to it automatically.' If asked about SSO/SAML, note it as a configuration question for the technical scoping call, not a live-demo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Land here right after login. Call out that KPIs, the completions chart, and the activity feed are already scoped to this Organization only — a Virtusa partner admin would see the same layout aggregated across their Business Units, while a scoped Business Unit manager sees only their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slide to slow down on for compliance-minded prospects: emphasize the immutability of Published/Archived states and that publish triggers full blueprint validation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Build one section live if time allows — add a question type, set negative marking, tag a competency. Emphasize the Submit Review button only appears because the assessment is currently in DRAFT state (tie back to the lifecycle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Filter the question bank by competency to show reuse across multiple assessments. Plant the seed for the AI roadmap section by pointing at the auto-tag confidence note without diving into it yet — 'we'll come back to that in Part Three.'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Switch browser sessions (or use an incognito window) to show the candidate view. Highlight the timer, auto-save (answer already marked before moving on), and the question navigator showing answered/current/unanswered state. Mention resume-after-disconnect as a resilience point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same screen your Support team uses for the 'candidate's screen froze' scenario — look up the session, verify telemetry, resolve without ever leaving this view. Mention this works identically for a Super Admin looking across Hexaware AND Virtusa's sub-clients.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Open one essay response and walk through scoring it against the rubric criteria. This is the exact screen where, in Part Three, an AI-suggested score and justification would appear — today it's 100% human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Click into one candidate result. Point out that API Design is flagged red — below the pass threshold for that competency even though overall score passed. This per-competency breakdown is what feeds both hiring decisions and (later) any learning-path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a native, editable chart — if the prospect's team wants to slice by department or date range afterwards, that filter lives right on this screen. The heatmap answers 'where are our candidates weakest' at a glance, which is the natural lead-in to the Self-Healing Assessments AI idea in Part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Export one report live to show the download. Then open the public verification link in a fresh tab to prove it works with zero authentication — this is often the single most convincing moment for HR/talent-acquisition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This is the screen a Virtusa-style partner admin lives in — show how Business Units roll up into one subscription and one invoice, while each Business Unit's Assessment Manager never sees billing at all (RBAC in action again).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'Everything you've just seen is shipping today. What I want to show you next is the roadmap — where AI plugs into these exact same screens to save your Assessment Managers and Reviewers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we're not doing AI proctoring or an in-exam AI chatbot: 'Deliberate choice — anything candidate-facing raises fairness and privacy questions we'd rather not introduce until the internal-facing wins are proven out.'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Slide 12/13 in the live walkthrough: 'Remember the Blueprint Designer and Question Bank screens I showed you? This is the same screen — the AI just pre-fills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reviewer-override tracking guardrail if a technical buyer asks about liability: we track how often reviewers agree with the AI suggestion vs override it, so 'human in the loop' stays real rather than becoming rubber-stamping.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Analytics Dashboard walkthrough (Slide 18) — the heatmap you saw is exactly what feeds Self-Healing Assessments.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directly to how HackerRank, HireVue, and Mercer Mettl price AI features in this space — buyers in this category will recognize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confirming which deployment model (B2B direct or B2B2B partner) fits them, and calendar the technical scoping call before ending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F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B2B / B2B2B Assessment Platform  —  with an AI Enrichment Roadmap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6035040"/>
            <a:ext cx="292608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Prospects &amp; Customers  |  Live Product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7053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SnapFlect is for, and the problem we solve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5740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450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27614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B2B and B2B2B (partner) models both run on one platform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44271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319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3630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through authoring, delivery, scoring, results &amp; certificates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431139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87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Enrichment Vision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25880" y="44988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accelerates your admin &amp; reviewer workflows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518007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056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Next Steps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325880" y="53675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 and how to get started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589520" y="160020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FORMAT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minutes, live in your browser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reflect the actual app modules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any time — this is a conversation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86384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flag where your team can configure or extend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SNAPFLECT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programs outgrow spreadsheets and static tools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570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733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tenant setup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9842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instances or manual data walls per client and per partner sub-client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8970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06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access control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91693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guarantee an Assessment Manager only sees their own Business Unit's candidates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62239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387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authoring &amp; grading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built by hand; essays and code queued for slow manual review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489704"/>
            <a:ext cx="502920" cy="50292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5508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7141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analytics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78231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counts, but little insight into competency gaps or question quality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built for enterprises and the partners who serve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is a multi-tenant SaaS assessment portal covering the full lifecycle: authoring, publication, candidate delivery, scoring, results and certification — with strict tenant isolation 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87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5-Level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2569464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hierarchy: Platform → Org → Business Unit → Department → Location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3410712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modules: Governance, Assessment, Delivery, Results, Analytics, Reporting, Certificates, Billing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70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42519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publication lifecycle: Draft → Review → Approved → Published → Archived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114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+ B2B2B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5093208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Direct-enterprise and partner/reseller models on the same codebase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7264D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17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(SnapFlect)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2093976"/>
            <a:ext cx="3913632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8010144" y="209397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(Tenants)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82128" y="2770632"/>
            <a:ext cx="4169664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2770632"/>
            <a:ext cx="4169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54112" y="3447288"/>
            <a:ext cx="4425696" cy="566928"/>
          </a:xfrm>
          <a:prstGeom prst="roundRect">
            <a:avLst>
              <a:gd name="adj" fmla="val 12903"/>
            </a:avLst>
          </a:prstGeom>
          <a:solidFill>
            <a:srgbClr val="0E8C82"/>
          </a:solidFill>
          <a:ln/>
        </p:spPr>
      </p:sp>
      <p:sp>
        <p:nvSpPr>
          <p:cNvPr id="24" name="Text 22"/>
          <p:cNvSpPr/>
          <p:nvPr/>
        </p:nvSpPr>
        <p:spPr>
          <a:xfrm>
            <a:off x="7754112" y="344728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/ Locations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26096" y="4123944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1FB6A8"/>
          </a:solidFill>
          <a:ln/>
        </p:spPr>
      </p:sp>
      <p:sp>
        <p:nvSpPr>
          <p:cNvPr id="26" name="Text 24"/>
          <p:cNvSpPr/>
          <p:nvPr/>
        </p:nvSpPr>
        <p:spPr>
          <a:xfrm>
            <a:off x="7626096" y="4123944"/>
            <a:ext cx="4681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hierarchical tenancy model — strict isolation, flexible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SnapFlect instance serves every customer. Organizations are the primary billing and data-isolation boundary; Business Units let a partner represent each of their own downstream clients underneath a single tenant.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258568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91" y="2315627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037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4963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— Super Admins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63040" y="291693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1" name="Shape 8"/>
          <p:cNvSpPr/>
          <p:nvPr/>
        </p:nvSpPr>
        <p:spPr>
          <a:xfrm>
            <a:off x="1627632" y="3026664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91" y="3083723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29718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(Tenant)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194560" y="3264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Hexaware, or a partner agency like Virtusa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377440" y="3685032"/>
            <a:ext cx="68580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16" name="Shape 12"/>
          <p:cNvSpPr/>
          <p:nvPr/>
        </p:nvSpPr>
        <p:spPr>
          <a:xfrm>
            <a:off x="2542032" y="3794760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91" y="3851819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08960" y="37398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108960" y="40325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partner's downstream client, or an internal division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91840" y="4453128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1" name="Shape 16"/>
          <p:cNvSpPr/>
          <p:nvPr/>
        </p:nvSpPr>
        <p:spPr>
          <a:xfrm>
            <a:off x="3456432" y="4562856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491" y="4619915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23360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/ Location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02336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org segments, e.g. Engineering — Chennai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5221224"/>
            <a:ext cx="3200400" cy="658368"/>
          </a:xfrm>
          <a:prstGeom prst="roundRect">
            <a:avLst>
              <a:gd name="adj" fmla="val 11111"/>
            </a:avLst>
          </a:prstGeom>
          <a:solidFill>
            <a:srgbClr val="17264D"/>
          </a:solidFill>
          <a:ln/>
        </p:spPr>
      </p:sp>
      <p:sp>
        <p:nvSpPr>
          <p:cNvPr id="26" name="Shape 20"/>
          <p:cNvSpPr/>
          <p:nvPr/>
        </p:nvSpPr>
        <p:spPr>
          <a:xfrm>
            <a:off x="4370832" y="5330952"/>
            <a:ext cx="438912" cy="438912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891" y="5388011"/>
            <a:ext cx="324795" cy="32479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37760" y="5276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937760" y="5568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access, e.g. a Manager restricted to one Business Unit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run on SnapFlect — same platform, same guardrails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17653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— Direct 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Hexaware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SnapFlect provisions a dedicated Organization tenant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self-manage users, departments &amp; locations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isolation — assessments, candidates, invoices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141732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91640"/>
            <a:ext cx="566928" cy="566928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41" y="176534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691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B2B2B — Partner / Reseller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995160" y="1984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Virtusa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309360" y="2514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Partner's Organization tenant hosts many Business Units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09360" y="3291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Unit maps to one of the partner's clients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09360" y="4069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leadership sees aggregated analytics &amp; billing; a scoped Manager sees only their assigned client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governed by role, and scoped to a tenant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931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 within their Organization: users, roles, billing,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another Organization's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publish, archive assessments within their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outside their Business Unit (if scoped)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Creator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draft questions &amp;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directly — requires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 assessments; manually grade essay &amp; file responses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an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assigned assessments, view own results &amp; certificates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other candidates' data or question banks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 (SnapFlect)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visibility &amp; support tooling across all tenants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(platform-level oversight role)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Product Walkthrough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Authoring → Publication → Delivery → Scoring → Results → Certificates → Governance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Multi-Tenant Access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30" name="Picture 29" descr="scree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Home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42316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55480" y="1947672"/>
            <a:ext cx="20574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0E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2" name="Picture 51" descr="scree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Assessment Lifecycle — a strict, auditable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freely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05456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25496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25496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25496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Manager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82312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02352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02352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59168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9208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0E8C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79208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(live)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79208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36024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56064" y="2103120"/>
            <a:ext cx="1956816" cy="1371600"/>
          </a:xfrm>
          <a:prstGeom prst="roundRect">
            <a:avLst>
              <a:gd name="adj" fmla="val 5333"/>
            </a:avLst>
          </a:prstGeom>
          <a:solidFill>
            <a:srgbClr val="17264D"/>
          </a:solidFill>
          <a:ln/>
        </p:spPr>
      </p:sp>
      <p:sp>
        <p:nvSpPr>
          <p:cNvPr id="25" name="Text 23"/>
          <p:cNvSpPr/>
          <p:nvPr/>
        </p:nvSpPr>
        <p:spPr>
          <a:xfrm>
            <a:off x="9656064" y="2286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56064" y="2697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56064" y="306324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EF3FB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977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you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Archived assessments cannot be edited or deleted — protects the integrity of anything a candidate has already taken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47000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auto-validates the full blueprint before it can go live — no incomplete assessment reaches a candidate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0840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checked against both role AND organization_id — no cross-tenant approvals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Designer — Assessment Authoring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2" name="Picture 41" descr="scree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&amp; Competency Mapping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50" name="Picture 49" descr="screen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Delivery Experience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0700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9105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7510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5915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2724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11296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95344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79392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47488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46" name="Picture 45" descr="screen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Monitor — Live Delivery Oversight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58" name="Picture 57" descr="screen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Dashboard &amp; Manual Review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48" name="Picture 47" descr="screen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8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 &amp; Candidate Score Card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44" name="Picture 43" descr="screen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9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 — KPIs, Heatmaps &amp; Trends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47" name="Picture 46" descr="screen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Reporting, Certificates &amp; Public Verification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32" name="Picture 31" descr="scree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 OF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Billing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39" name="Picture 38" descr="scree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7160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5029200"/>
            <a:ext cx="2377440" cy="237744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Enrichment Vision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removes admin and reviewer busywork — without ever touching the candidate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assists your team — never a candidate-facing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66558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819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reviewer-facing only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8745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 targets Assessment Managers, Reviewers, and Admins — no AI chatbot or AI-generated report ever reaches a candidate.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53132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94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always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86207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a score, a tag, or a draft — a person confirms it before it counts.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57530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640684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57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 by design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384962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internal AI Gateway enforces that no prompt ever mixes data across Organizations or Business Units.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56285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628236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544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Gemini, OpenAI, or Bring-Your-Own-Key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371600" y="483717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providers, or route candidate data through your own enterprise LLM contract.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23760" y="1600200"/>
            <a:ext cx="4389120" cy="4434840"/>
          </a:xfrm>
          <a:prstGeom prst="roundRect">
            <a:avLst>
              <a:gd name="adj" fmla="val 1667"/>
            </a:avLst>
          </a:prstGeom>
          <a:solidFill>
            <a:srgbClr val="17264D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45236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(Internal)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452360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3" name="Text 17"/>
          <p:cNvSpPr/>
          <p:nvPr/>
        </p:nvSpPr>
        <p:spPr>
          <a:xfrm>
            <a:off x="7452360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8439912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5" name="Text 19"/>
          <p:cNvSpPr/>
          <p:nvPr/>
        </p:nvSpPr>
        <p:spPr>
          <a:xfrm>
            <a:off x="8439912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9427464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7" name="Text 21"/>
          <p:cNvSpPr/>
          <p:nvPr/>
        </p:nvSpPr>
        <p:spPr>
          <a:xfrm>
            <a:off x="9427464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10415016" y="214884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29" name="Text 23"/>
          <p:cNvSpPr/>
          <p:nvPr/>
        </p:nvSpPr>
        <p:spPr>
          <a:xfrm>
            <a:off x="10415016" y="2148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sp>
        <p:nvSpPr>
          <p:cNvPr id="30" name="Shape 24"/>
          <p:cNvSpPr/>
          <p:nvPr/>
        </p:nvSpPr>
        <p:spPr>
          <a:xfrm>
            <a:off x="7680960" y="269748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0E8C82"/>
          </a:solidFill>
          <a:ln/>
        </p:spPr>
      </p:sp>
      <p:sp>
        <p:nvSpPr>
          <p:cNvPr id="31" name="Text 25"/>
          <p:cNvSpPr/>
          <p:nvPr/>
        </p:nvSpPr>
        <p:spPr>
          <a:xfrm>
            <a:off x="768096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Service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680960" y="33832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3" name="Text 27"/>
          <p:cNvSpPr/>
          <p:nvPr/>
        </p:nvSpPr>
        <p:spPr>
          <a:xfrm>
            <a:off x="78181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Scope Enforcer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680960" y="3822192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5" name="Text 29"/>
          <p:cNvSpPr/>
          <p:nvPr/>
        </p:nvSpPr>
        <p:spPr>
          <a:xfrm>
            <a:off x="781812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&amp; Cost Meter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680960" y="4261104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7" name="Text 31"/>
          <p:cNvSpPr/>
          <p:nvPr/>
        </p:nvSpPr>
        <p:spPr>
          <a:xfrm>
            <a:off x="7818120" y="42611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680960" y="470001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1F3568"/>
          </a:solidFill>
          <a:ln/>
        </p:spPr>
      </p:sp>
      <p:sp>
        <p:nvSpPr>
          <p:cNvPr id="39" name="Text 33"/>
          <p:cNvSpPr/>
          <p:nvPr/>
        </p:nvSpPr>
        <p:spPr>
          <a:xfrm>
            <a:off x="7818120" y="4700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Failover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Authoring — minutes instead of hours per blueprint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Question Generation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job description or HR manual — AI drafts a full blueprint of MCQ, multi-select and essay questions mapped to competencies.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Auto-Tagging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Manually-written questions get suggested competency tags with a confidence score — low-confidence suggestions route for manual confirmation.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&amp; Penalty Prediction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negative marking and weighting based on semantic complexity — always advisory, author confirms before it applies.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Balance Checker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publication, AI flags coverage gaps — e.g. zero questions mapped to a stated competency — inside the existing publish workflow.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Fairer Evaluation — AI drafts, your reviewers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 Assist Mode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pre-fills a draft rubric score per criterion right inside the Manual Review screen — reviewers edit instead of starting blank.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Essay Evaluation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scores open-text answers against your rubric (grammar, technical accuracy, tone) and shows its justification alongside the score.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Evaluation Agent (via MCP)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code runs in a secure sandbox against hidden test cases; an AI agent reviews quality, complexity and security — beyond pass/fail.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&amp; AI-Content Signal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likely copy-pasted or AI-generated responses as a reviewer signal, never an automatic fail — protects against false positives.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SPOTLIGHT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Analytics — ask a question, get an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7113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2763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Chat-with-Data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Admins ask in plain English — “Show candidates who scored above 80% in React but failed API Design” — answered from a tenant-scoped, read-only query engine.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643988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603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Assessments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28529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telemetry to flag flawed questions — e.g. 95% of top performers answer incorrectly — and routes them to a human review queue.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11296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57667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Comparison Narratives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378561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summary paragraph on the analytics dashboard turns charts into something a non-technical admin can act on immediately.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443984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4509364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2569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Forecasting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471830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next-cycle AI spend per tenant from current usage trends — no surprise Pay-As-You-Go invoices.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commercial models — for direct clients and partners alike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Subscription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number of AI-processed candidates and tokens bundled into Premium and Enterprise tiers.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predictable monthly volume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78808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88" y="18941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07408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Pay-As-You-Go (Credits)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07408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(RAG, scoring) and session-minutes metered separately, billed at cycle end as credits.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07408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17" name="Text 13"/>
          <p:cNvSpPr/>
          <p:nvPr/>
        </p:nvSpPr>
        <p:spPr>
          <a:xfrm>
            <a:off x="4498848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variable or seasonal hiring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08976" y="1600200"/>
            <a:ext cx="3493008" cy="4389120"/>
          </a:xfrm>
          <a:prstGeom prst="roundRect">
            <a:avLst>
              <a:gd name="adj" fmla="val 209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37576" y="1828800"/>
            <a:ext cx="502920" cy="502920"/>
          </a:xfrm>
          <a:prstGeom prst="ellipse">
            <a:avLst/>
          </a:prstGeom>
          <a:solidFill>
            <a:srgbClr val="1726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56" y="189418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37576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Your Own Key (BYOK)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037576" y="301752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supply their own OpenAI / Gemini key — token cost passes to their cloud bill; we charge a flat platform fee.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037576" y="5394960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FB6A8"/>
          </a:solidFill>
          <a:ln/>
        </p:spPr>
      </p:sp>
      <p:sp>
        <p:nvSpPr>
          <p:cNvPr id="24" name="Text 19"/>
          <p:cNvSpPr/>
          <p:nvPr/>
        </p:nvSpPr>
        <p:spPr>
          <a:xfrm>
            <a:off x="8129016" y="539496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 enterprises with existing LLM contracts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SnapFlect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two business models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and B2B2B run on the same codebase — no forked deployment for partners.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80" y="20313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enforced at the policy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hidden in the UI — cross-tenant access is denied server-side, every time.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1344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Governed, auditable lifecycle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state machine protects published assessments from accidental change.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3FB"/>
          </a:solidFill>
          <a:ln/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41344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roadmap with guardrails built in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Admin/reviewer-facing only, human-in-the-loop, tenant-scoped by design — not bolted on after the fact.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F356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457200"/>
            <a:ext cx="2560320" cy="2560320"/>
          </a:xfrm>
          <a:prstGeom prst="ellipse">
            <a:avLst/>
          </a:prstGeom>
          <a:solidFill>
            <a:srgbClr val="0E8C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scope your rollout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9397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8620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scoping call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3154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SSO needs, tenant structure, and which AI features matter most to you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7170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63931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pilot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9319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runs a real assessment cycle in a dedicated Organization tenant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E8C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449427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4165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4709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 with your chosen billing model — tiered, PAYG, or BYOK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5806440"/>
            <a:ext cx="2743200" cy="0"/>
          </a:xfrm>
          <a:prstGeom prst="line">
            <a:avLst/>
          </a:prstGeom>
          <a:noFill/>
          <a:ln w="19050">
            <a:solidFill>
              <a:srgbClr val="0E8C8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 anytime.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7325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SnapFlect Product Demo Deck</dc:title>
  <dc:subject>PptxGenJS Presentation</dc:subject>
  <dc:creator>SnapFlect</dc:creator>
  <cp:lastModifiedBy>SnapFlect</cp:lastModifiedBy>
  <cp:revision>1</cp:revision>
  <dcterms:created xsi:type="dcterms:W3CDTF">2026-07-09T06:34:50Z</dcterms:created>
  <dcterms:modified xsi:type="dcterms:W3CDTF">2026-07-09T06:34:50Z</dcterms:modified>
</cp:coreProperties>
</file>